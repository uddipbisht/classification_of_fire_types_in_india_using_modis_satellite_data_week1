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5" r:id="rId1"/>
  </p:sldMasterIdLst>
  <p:sldIdLst>
    <p:sldId id="256" r:id="rId2"/>
    <p:sldId id="257" r:id="rId3"/>
    <p:sldId id="258" r:id="rId4"/>
    <p:sldId id="259" r:id="rId5"/>
    <p:sldId id="260" r:id="rId6"/>
    <p:sldId id="261" r:id="rId7"/>
    <p:sldId id="263" r:id="rId8"/>
    <p:sldId id="270" r:id="rId9"/>
    <p:sldId id="266" r:id="rId10"/>
    <p:sldId id="268" r:id="rId11"/>
    <p:sldId id="264" r:id="rId12"/>
    <p:sldId id="269" r:id="rId13"/>
    <p:sldId id="265" r:id="rId14"/>
    <p:sldId id="267" r:id="rId15"/>
    <p:sldId id="262" r:id="rId16"/>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792">
          <p15:clr>
            <a:srgbClr val="A4A3A4"/>
          </p15:clr>
        </p15:guide>
        <p15:guide id="2" pos="192">
          <p15:clr>
            <a:srgbClr val="A4A3A4"/>
          </p15:clr>
        </p15:guide>
        <p15:guide id="3" orient="horz" pos="1080">
          <p15:clr>
            <a:srgbClr val="A4A3A4"/>
          </p15:clr>
        </p15:guide>
      </p15:sldGuideLst>
    </p:ext>
    <p:ext uri="http://customooxmlschemas.google.com/">
      <go:slidesCustomData xmlns="" xmlns:go="http://customooxmlschemas.google.com/"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r:id="rId220" roundtripDataSignature="AMtx7miWNY2LB4ETJwrL8F0N+EK9hEhqU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4" d="100"/>
          <a:sy n="74" d="100"/>
        </p:scale>
        <p:origin x="376" y="72"/>
      </p:cViewPr>
      <p:guideLst>
        <p:guide orient="horz" pos="792"/>
        <p:guide pos="192"/>
        <p:guide orient="horz" pos="10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222"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slide" Target="slides/slide15.xml"/><Relationship Id="rId22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20" Type="http://customschemas.google.com/relationships/presentationmetadata" Target="metadata"/><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22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3"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823413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28378783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p:cSld name="Title and body">
    <p:spTree>
      <p:nvGrpSpPr>
        <p:cNvPr id="1" name="Shape 13"/>
        <p:cNvGrpSpPr/>
        <p:nvPr/>
      </p:nvGrpSpPr>
      <p:grpSpPr>
        <a:xfrm>
          <a:off x="0" y="0"/>
          <a:ext cx="0" cy="0"/>
          <a:chOff x="0" y="0"/>
          <a:chExt cx="0" cy="0"/>
        </a:xfrm>
      </p:grpSpPr>
    </p:spTree>
    <p:extLst>
      <p:ext uri="{BB962C8B-B14F-4D97-AF65-F5344CB8AC3E}">
        <p14:creationId xmlns:p14="http://schemas.microsoft.com/office/powerpoint/2010/main" val="27718775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42826647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2.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pic>
        <p:nvPicPr>
          <p:cNvPr id="13" name="Google Shape;110;p4" descr="A close up of a sign&#10;&#10;Description automatically generated">
            <a:extLst>
              <a:ext uri="{FF2B5EF4-FFF2-40B4-BE49-F238E27FC236}">
                <a16:creationId xmlns:a16="http://schemas.microsoft.com/office/drawing/2014/main" id="{CE849A3B-BCF0-B774-F89E-81965C71F93E}"/>
              </a:ext>
            </a:extLst>
          </p:cNvPr>
          <p:cNvPicPr preferRelativeResize="0"/>
          <p:nvPr/>
        </p:nvPicPr>
        <p:blipFill rotWithShape="1">
          <a:blip r:embed="rId6">
            <a:alphaModFix/>
          </a:blip>
          <a:srcRect/>
          <a:stretch/>
        </p:blipFill>
        <p:spPr>
          <a:xfrm>
            <a:off x="10072688" y="78002"/>
            <a:ext cx="1800225" cy="575514"/>
          </a:xfrm>
          <a:prstGeom prst="rect">
            <a:avLst/>
          </a:prstGeom>
          <a:noFill/>
          <a:ln>
            <a:noFill/>
          </a:ln>
        </p:spPr>
      </p:pic>
      <p:sp>
        <p:nvSpPr>
          <p:cNvPr id="15" name="Rectangle 14">
            <a:extLst>
              <a:ext uri="{FF2B5EF4-FFF2-40B4-BE49-F238E27FC236}">
                <a16:creationId xmlns:a16="http://schemas.microsoft.com/office/drawing/2014/main" id="{E153E6A6-60E4-FE14-1CBC-8CC211274D1C}"/>
              </a:ext>
            </a:extLst>
          </p:cNvPr>
          <p:cNvSpPr/>
          <p:nvPr/>
        </p:nvSpPr>
        <p:spPr>
          <a:xfrm>
            <a:off x="1" y="0"/>
            <a:ext cx="9829800" cy="717630"/>
          </a:xfrm>
          <a:prstGeom prst="rect">
            <a:avLst/>
          </a:prstGeom>
          <a:solidFill>
            <a:srgbClr val="213264"/>
          </a:solidFill>
          <a:ln>
            <a:solidFill>
              <a:srgbClr val="21326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Rectangle 18">
            <a:extLst>
              <a:ext uri="{FF2B5EF4-FFF2-40B4-BE49-F238E27FC236}">
                <a16:creationId xmlns:a16="http://schemas.microsoft.com/office/drawing/2014/main" id="{2C7CE881-772B-9023-3054-4B219B75D755}"/>
              </a:ext>
            </a:extLst>
          </p:cNvPr>
          <p:cNvSpPr/>
          <p:nvPr/>
        </p:nvSpPr>
        <p:spPr>
          <a:xfrm>
            <a:off x="9888967" y="-419"/>
            <a:ext cx="112283" cy="732357"/>
          </a:xfrm>
          <a:prstGeom prst="rect">
            <a:avLst/>
          </a:prstGeom>
          <a:solidFill>
            <a:srgbClr val="7FBA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1" name="Picture 30" descr="A blue and white background&#10;&#10;Description automatically generated with medium confidence">
            <a:extLst>
              <a:ext uri="{FF2B5EF4-FFF2-40B4-BE49-F238E27FC236}">
                <a16:creationId xmlns:a16="http://schemas.microsoft.com/office/drawing/2014/main" id="{16A7B69A-9B14-87FE-841D-37F0A91D141D}"/>
              </a:ext>
            </a:extLst>
          </p:cNvPr>
          <p:cNvPicPr>
            <a:picLocks noChangeAspect="1"/>
          </p:cNvPicPr>
          <p:nvPr/>
        </p:nvPicPr>
        <p:blipFill rotWithShape="1">
          <a:blip r:embed="rId7">
            <a:alphaModFix amt="16000"/>
          </a:blip>
          <a:srcRect t="24724" r="1619" b="63695"/>
          <a:stretch/>
        </p:blipFill>
        <p:spPr>
          <a:xfrm>
            <a:off x="0" y="-1"/>
            <a:ext cx="9839325" cy="723901"/>
          </a:xfrm>
          <a:prstGeom prst="rect">
            <a:avLst/>
          </a:prstGeom>
        </p:spPr>
      </p:pic>
      <p:sp>
        <p:nvSpPr>
          <p:cNvPr id="2" name="Rectangle 1">
            <a:extLst>
              <a:ext uri="{FF2B5EF4-FFF2-40B4-BE49-F238E27FC236}">
                <a16:creationId xmlns:a16="http://schemas.microsoft.com/office/drawing/2014/main" id="{37B91A16-5D54-2FC0-B0FD-A78085FC1313}"/>
              </a:ext>
            </a:extLst>
          </p:cNvPr>
          <p:cNvSpPr/>
          <p:nvPr/>
        </p:nvSpPr>
        <p:spPr>
          <a:xfrm>
            <a:off x="11925300" y="-419"/>
            <a:ext cx="266700" cy="732357"/>
          </a:xfrm>
          <a:prstGeom prst="rect">
            <a:avLst/>
          </a:prstGeom>
          <a:solidFill>
            <a:srgbClr val="FED5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 bg1="lt1" tx1="dk1" bg2="dk2" tx2="lt2" accent1="accent1" accent2="accent2" accent3="accent3" accent4="accent4" accent5="accent5" accent6="accent6" hlink="hlink" folHlink="folHlink"/>
  <p:sldLayoutIdLst>
    <p:sldLayoutId id="2147483687" r:id="rId1"/>
    <p:sldLayoutId id="2147483701" r:id="rId2"/>
    <p:sldLayoutId id="2147483714" r:id="rId3"/>
    <p:sldLayoutId id="2147483727" r:id="rId4"/>
  </p:sldLayoutIdLst>
  <p:hf sldNum="0"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https://www.freepik.com/"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person sitting at a desk with a computer&#10;&#10;Description automatically generated">
            <a:extLst>
              <a:ext uri="{FF2B5EF4-FFF2-40B4-BE49-F238E27FC236}">
                <a16:creationId xmlns:a16="http://schemas.microsoft.com/office/drawing/2014/main" id="{07B8740D-C76F-46FC-AEFB-23FB0614DB0C}"/>
              </a:ext>
            </a:extLst>
          </p:cNvPr>
          <p:cNvPicPr>
            <a:picLocks noChangeAspect="1"/>
          </p:cNvPicPr>
          <p:nvPr/>
        </p:nvPicPr>
        <p:blipFill>
          <a:blip r:embed="rId2"/>
          <a:stretch>
            <a:fillRect/>
          </a:stretch>
        </p:blipFill>
        <p:spPr>
          <a:xfrm>
            <a:off x="224286" y="-198408"/>
            <a:ext cx="12192000" cy="6858000"/>
          </a:xfrm>
          <a:prstGeom prst="rect">
            <a:avLst/>
          </a:prstGeom>
        </p:spPr>
      </p:pic>
      <p:sp>
        <p:nvSpPr>
          <p:cNvPr id="4" name="Rectangle: Rounded Corners 3">
            <a:extLst>
              <a:ext uri="{FF2B5EF4-FFF2-40B4-BE49-F238E27FC236}">
                <a16:creationId xmlns:a16="http://schemas.microsoft.com/office/drawing/2014/main" id="{C1857762-AD52-483C-B3E1-635C5BBC6F2F}"/>
              </a:ext>
            </a:extLst>
          </p:cNvPr>
          <p:cNvSpPr/>
          <p:nvPr/>
        </p:nvSpPr>
        <p:spPr>
          <a:xfrm>
            <a:off x="5873750" y="584200"/>
            <a:ext cx="4673600" cy="977900"/>
          </a:xfrm>
          <a:prstGeom prst="roundRect">
            <a:avLst/>
          </a:prstGeom>
          <a:solidFill>
            <a:srgbClr val="EBEEF9"/>
          </a:solidFill>
          <a:ln>
            <a:solidFill>
              <a:schemeClr val="bg1">
                <a:lumMod val="8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D5067E9C-C7B9-4476-9708-CBB3F66FD892}"/>
              </a:ext>
            </a:extLst>
          </p:cNvPr>
          <p:cNvSpPr txBox="1"/>
          <p:nvPr/>
        </p:nvSpPr>
        <p:spPr>
          <a:xfrm>
            <a:off x="4391856" y="2238429"/>
            <a:ext cx="6870861" cy="461665"/>
          </a:xfrm>
          <a:prstGeom prst="rect">
            <a:avLst/>
          </a:prstGeom>
          <a:noFill/>
        </p:spPr>
        <p:txBody>
          <a:bodyPr wrap="square" rtlCol="0">
            <a:spAutoFit/>
          </a:bodyPr>
          <a:lstStyle/>
          <a:p>
            <a:pPr algn="r"/>
            <a:r>
              <a:rPr lang="en-IN" sz="2400" dirty="0">
                <a:solidFill>
                  <a:schemeClr val="bg1"/>
                </a:solidFill>
              </a:rPr>
              <a:t>Deforestation Detection(Fire Classification)</a:t>
            </a:r>
            <a:endParaRPr lang="en-US" sz="2400" dirty="0">
              <a:solidFill>
                <a:schemeClr val="bg1"/>
              </a:solidFill>
              <a:latin typeface="Arial" panose="020B0604020202020204" pitchFamily="34" charset="0"/>
              <a:cs typeface="Arial" panose="020B0604020202020204" pitchFamily="34" charset="0"/>
            </a:endParaRPr>
          </a:p>
        </p:txBody>
      </p:sp>
      <p:grpSp>
        <p:nvGrpSpPr>
          <p:cNvPr id="6" name="Group 5">
            <a:extLst>
              <a:ext uri="{FF2B5EF4-FFF2-40B4-BE49-F238E27FC236}">
                <a16:creationId xmlns:a16="http://schemas.microsoft.com/office/drawing/2014/main" id="{D7224A59-2417-428A-A991-E468431BB817}"/>
              </a:ext>
            </a:extLst>
          </p:cNvPr>
          <p:cNvGrpSpPr/>
          <p:nvPr/>
        </p:nvGrpSpPr>
        <p:grpSpPr>
          <a:xfrm>
            <a:off x="6890523" y="742091"/>
            <a:ext cx="2640053" cy="664378"/>
            <a:chOff x="2375536" y="1112060"/>
            <a:chExt cx="3292636" cy="828603"/>
          </a:xfrm>
        </p:grpSpPr>
        <p:pic>
          <p:nvPicPr>
            <p:cNvPr id="7" name="Picture 6" descr="A close up of a logo&#10;&#10;Description automatically generated">
              <a:extLst>
                <a:ext uri="{FF2B5EF4-FFF2-40B4-BE49-F238E27FC236}">
                  <a16:creationId xmlns:a16="http://schemas.microsoft.com/office/drawing/2014/main" id="{BD3530AF-9771-470E-A9BF-F28AA227533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092781" y="1270168"/>
              <a:ext cx="1575391" cy="512386"/>
            </a:xfrm>
            <a:prstGeom prst="rect">
              <a:avLst/>
            </a:prstGeom>
          </p:spPr>
        </p:pic>
        <p:pic>
          <p:nvPicPr>
            <p:cNvPr id="8" name="Picture 7" descr="A yellow and red shell logo&#10;&#10;Description automatically generated">
              <a:extLst>
                <a:ext uri="{FF2B5EF4-FFF2-40B4-BE49-F238E27FC236}">
                  <a16:creationId xmlns:a16="http://schemas.microsoft.com/office/drawing/2014/main" id="{75E6A819-9F3F-4787-A707-A7415C302BFA}"/>
                </a:ext>
              </a:extLst>
            </p:cNvPr>
            <p:cNvPicPr>
              <a:picLocks noChangeAspect="1"/>
            </p:cNvPicPr>
            <p:nvPr/>
          </p:nvPicPr>
          <p:blipFill>
            <a:blip r:embed="rId4"/>
            <a:stretch>
              <a:fillRect/>
            </a:stretch>
          </p:blipFill>
          <p:spPr>
            <a:xfrm>
              <a:off x="2375536" y="1112060"/>
              <a:ext cx="985475" cy="828603"/>
            </a:xfrm>
            <a:prstGeom prst="rect">
              <a:avLst/>
            </a:prstGeom>
          </p:spPr>
        </p:pic>
      </p:grpSp>
      <p:sp>
        <p:nvSpPr>
          <p:cNvPr id="3" name="TextBox 2">
            <a:extLst>
              <a:ext uri="{FF2B5EF4-FFF2-40B4-BE49-F238E27FC236}">
                <a16:creationId xmlns:a16="http://schemas.microsoft.com/office/drawing/2014/main" id="{EC87738D-5127-E79F-E3ED-420C31322F8C}"/>
              </a:ext>
            </a:extLst>
          </p:cNvPr>
          <p:cNvSpPr txBox="1"/>
          <p:nvPr/>
        </p:nvSpPr>
        <p:spPr>
          <a:xfrm>
            <a:off x="5398588" y="3226110"/>
            <a:ext cx="5623924" cy="2108269"/>
          </a:xfrm>
          <a:prstGeom prst="rect">
            <a:avLst/>
          </a:prstGeom>
          <a:noFill/>
        </p:spPr>
        <p:txBody>
          <a:bodyPr wrap="square" rtlCol="0">
            <a:spAutoFit/>
          </a:bodyPr>
          <a:lstStyle/>
          <a:p>
            <a:pPr>
              <a:spcAft>
                <a:spcPts val="600"/>
              </a:spcAft>
            </a:pPr>
            <a:r>
              <a:rPr lang="en-US" sz="1200" b="1" cap="all" dirty="0">
                <a:solidFill>
                  <a:schemeClr val="bg1"/>
                </a:solidFill>
              </a:rPr>
              <a:t>Presented By</a:t>
            </a:r>
          </a:p>
          <a:p>
            <a:pPr>
              <a:spcAft>
                <a:spcPts val="600"/>
              </a:spcAft>
            </a:pPr>
            <a:endParaRPr lang="en-US" sz="1200" b="1" cap="all" dirty="0">
              <a:solidFill>
                <a:schemeClr val="bg1"/>
              </a:solidFill>
            </a:endParaRPr>
          </a:p>
          <a:p>
            <a:pPr>
              <a:spcAft>
                <a:spcPts val="600"/>
              </a:spcAft>
            </a:pPr>
            <a:r>
              <a:rPr lang="en-US" sz="1200" b="1" cap="all" dirty="0">
                <a:solidFill>
                  <a:schemeClr val="bg1"/>
                </a:solidFill>
              </a:rPr>
              <a:t>Student Name:- UDDIP BISHT</a:t>
            </a:r>
          </a:p>
          <a:p>
            <a:pPr>
              <a:spcAft>
                <a:spcPts val="600"/>
              </a:spcAft>
            </a:pPr>
            <a:r>
              <a:rPr lang="en-US" sz="1200" b="1" cap="all" dirty="0">
                <a:solidFill>
                  <a:schemeClr val="bg1"/>
                </a:solidFill>
              </a:rPr>
              <a:t>College Name:- P</a:t>
            </a:r>
            <a:r>
              <a:rPr lang="en-US" sz="1200" b="1" dirty="0">
                <a:solidFill>
                  <a:schemeClr val="bg1"/>
                </a:solidFill>
              </a:rPr>
              <a:t>anipat Institute  of </a:t>
            </a:r>
            <a:r>
              <a:rPr lang="en-US" sz="1200" b="1" dirty="0" err="1">
                <a:solidFill>
                  <a:schemeClr val="bg1"/>
                </a:solidFill>
              </a:rPr>
              <a:t>Enginnering</a:t>
            </a:r>
            <a:r>
              <a:rPr lang="en-US" sz="1200" b="1" dirty="0">
                <a:solidFill>
                  <a:schemeClr val="bg1"/>
                </a:solidFill>
              </a:rPr>
              <a:t> &amp; Technology</a:t>
            </a:r>
            <a:endParaRPr lang="en-US" sz="1200" b="1" cap="all" dirty="0">
              <a:solidFill>
                <a:schemeClr val="bg1"/>
              </a:solidFill>
            </a:endParaRPr>
          </a:p>
          <a:p>
            <a:pPr>
              <a:spcAft>
                <a:spcPts val="600"/>
              </a:spcAft>
            </a:pPr>
            <a:r>
              <a:rPr lang="en-US" sz="1200" b="1" cap="all" dirty="0">
                <a:solidFill>
                  <a:schemeClr val="bg1"/>
                </a:solidFill>
              </a:rPr>
              <a:t>Department:- </a:t>
            </a:r>
            <a:r>
              <a:rPr lang="en-US" sz="1200" b="1" cap="all" dirty="0" err="1">
                <a:solidFill>
                  <a:schemeClr val="bg1"/>
                </a:solidFill>
              </a:rPr>
              <a:t>B.Tech</a:t>
            </a:r>
            <a:r>
              <a:rPr lang="en-US" sz="1200" b="1" cap="all" dirty="0">
                <a:solidFill>
                  <a:schemeClr val="bg1"/>
                </a:solidFill>
              </a:rPr>
              <a:t> (</a:t>
            </a:r>
            <a:r>
              <a:rPr lang="en-US" sz="1200" b="1" cap="all" dirty="0" err="1">
                <a:solidFill>
                  <a:schemeClr val="bg1"/>
                </a:solidFill>
              </a:rPr>
              <a:t>CsE</a:t>
            </a:r>
            <a:r>
              <a:rPr lang="en-US" sz="1200" b="1" cap="all" dirty="0">
                <a:solidFill>
                  <a:schemeClr val="bg1"/>
                </a:solidFill>
              </a:rPr>
              <a:t>)</a:t>
            </a:r>
          </a:p>
          <a:p>
            <a:pPr>
              <a:spcAft>
                <a:spcPts val="600"/>
              </a:spcAft>
            </a:pPr>
            <a:r>
              <a:rPr lang="en-US" sz="1200" b="1" cap="all" dirty="0">
                <a:solidFill>
                  <a:schemeClr val="bg1"/>
                </a:solidFill>
              </a:rPr>
              <a:t>Email ID:- </a:t>
            </a:r>
            <a:r>
              <a:rPr lang="en-US" sz="1200" b="1" dirty="0">
                <a:solidFill>
                  <a:schemeClr val="bg1"/>
                </a:solidFill>
              </a:rPr>
              <a:t>uddipbisht2004@gmail.com</a:t>
            </a:r>
          </a:p>
          <a:p>
            <a:pPr>
              <a:spcAft>
                <a:spcPts val="600"/>
              </a:spcAft>
            </a:pPr>
            <a:r>
              <a:rPr lang="en-US" sz="1200" b="1" dirty="0">
                <a:solidFill>
                  <a:schemeClr val="bg1"/>
                </a:solidFill>
              </a:rPr>
              <a:t>AICTE Internship Student Registration ID</a:t>
            </a:r>
            <a:r>
              <a:rPr lang="en-US" sz="1200" b="1" cap="all" dirty="0">
                <a:solidFill>
                  <a:schemeClr val="bg1"/>
                </a:solidFill>
              </a:rPr>
              <a:t>:- </a:t>
            </a:r>
            <a:r>
              <a:rPr lang="en-IN" sz="1200" b="1" dirty="0">
                <a:solidFill>
                  <a:schemeClr val="bg1"/>
                </a:solidFill>
              </a:rPr>
              <a:t>STU668e4423c86ed1720599587</a:t>
            </a:r>
          </a:p>
          <a:p>
            <a:pPr>
              <a:spcAft>
                <a:spcPts val="600"/>
              </a:spcAft>
            </a:pPr>
            <a:r>
              <a:rPr lang="en-IN" sz="1200" b="1" dirty="0">
                <a:solidFill>
                  <a:schemeClr val="bg1"/>
                </a:solidFill>
              </a:rPr>
              <a:t>AICTE Internship ID:- INTERNSHIP_1748923002683e727a876ea</a:t>
            </a:r>
            <a:endParaRPr lang="en-US" sz="1200" b="1" dirty="0">
              <a:solidFill>
                <a:schemeClr val="bg1"/>
              </a:solidFill>
            </a:endParaRPr>
          </a:p>
        </p:txBody>
      </p:sp>
    </p:spTree>
    <p:extLst>
      <p:ext uri="{BB962C8B-B14F-4D97-AF65-F5344CB8AC3E}">
        <p14:creationId xmlns:p14="http://schemas.microsoft.com/office/powerpoint/2010/main" val="3671276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094E319-C77C-49E2-964C-6E125D716194}"/>
              </a:ext>
            </a:extLst>
          </p:cNvPr>
          <p:cNvSpPr txBox="1"/>
          <p:nvPr/>
        </p:nvSpPr>
        <p:spPr>
          <a:xfrm>
            <a:off x="191911" y="972537"/>
            <a:ext cx="2652889" cy="400110"/>
          </a:xfrm>
          <a:prstGeom prst="rect">
            <a:avLst/>
          </a:prstGeom>
          <a:noFill/>
        </p:spPr>
        <p:txBody>
          <a:bodyPr wrap="square">
            <a:spAutoFit/>
          </a:bodyPr>
          <a:lstStyle/>
          <a:p>
            <a:r>
              <a:rPr lang="en-IN" sz="2000" b="1" dirty="0">
                <a:solidFill>
                  <a:srgbClr val="213163"/>
                </a:solidFill>
              </a:rPr>
              <a:t>Learning Objectives</a:t>
            </a:r>
            <a:endParaRPr lang="en-IN" sz="2000" dirty="0">
              <a:solidFill>
                <a:srgbClr val="213163"/>
              </a:solidFill>
            </a:endParaRPr>
          </a:p>
        </p:txBody>
      </p:sp>
      <p:sp>
        <p:nvSpPr>
          <p:cNvPr id="3" name="TextBox 2">
            <a:extLst>
              <a:ext uri="{FF2B5EF4-FFF2-40B4-BE49-F238E27FC236}">
                <a16:creationId xmlns:a16="http://schemas.microsoft.com/office/drawing/2014/main" id="{8E1F3497-5370-4874-9908-5AD45214E10B}"/>
              </a:ext>
            </a:extLst>
          </p:cNvPr>
          <p:cNvSpPr txBox="1"/>
          <p:nvPr/>
        </p:nvSpPr>
        <p:spPr>
          <a:xfrm>
            <a:off x="199809" y="6135329"/>
            <a:ext cx="795871" cy="276999"/>
          </a:xfrm>
          <a:prstGeom prst="rect">
            <a:avLst/>
          </a:prstGeom>
          <a:noFill/>
        </p:spPr>
        <p:txBody>
          <a:bodyPr wrap="square" rtlCol="0">
            <a:spAutoFit/>
          </a:bodyPr>
          <a:lstStyle/>
          <a:p>
            <a:pPr>
              <a:spcAft>
                <a:spcPts val="800"/>
              </a:spcAft>
            </a:pPr>
            <a:r>
              <a:rPr lang="en-IN" sz="1200" b="1" dirty="0">
                <a:latin typeface="+mn-lt"/>
              </a:rPr>
              <a:t>Source : </a:t>
            </a:r>
          </a:p>
        </p:txBody>
      </p:sp>
      <p:sp>
        <p:nvSpPr>
          <p:cNvPr id="4" name="TextBox 3">
            <a:extLst>
              <a:ext uri="{FF2B5EF4-FFF2-40B4-BE49-F238E27FC236}">
                <a16:creationId xmlns:a16="http://schemas.microsoft.com/office/drawing/2014/main" id="{ECE830DD-8813-42EB-B27B-B7D85423D0C7}"/>
              </a:ext>
            </a:extLst>
          </p:cNvPr>
          <p:cNvSpPr txBox="1"/>
          <p:nvPr/>
        </p:nvSpPr>
        <p:spPr>
          <a:xfrm>
            <a:off x="880529" y="6135329"/>
            <a:ext cx="1842351" cy="276999"/>
          </a:xfrm>
          <a:prstGeom prst="rect">
            <a:avLst/>
          </a:prstGeom>
          <a:noFill/>
        </p:spPr>
        <p:txBody>
          <a:bodyPr wrap="square" rtlCol="0">
            <a:spAutoFit/>
          </a:bodyPr>
          <a:lstStyle/>
          <a:p>
            <a:pPr>
              <a:spcAft>
                <a:spcPts val="800"/>
              </a:spcAft>
            </a:pPr>
            <a:r>
              <a:rPr lang="en-IN" sz="1200" dirty="0">
                <a:solidFill>
                  <a:srgbClr val="0000FF"/>
                </a:solidFill>
                <a:latin typeface="+mn-lt"/>
                <a:hlinkClick r:id="rId2">
                  <a:extLst>
                    <a:ext uri="{A12FA001-AC4F-418D-AE19-62706E023703}">
                      <ahyp:hlinkClr xmlns:ahyp="http://schemas.microsoft.com/office/drawing/2018/hyperlinkcolor" val="tx"/>
                    </a:ext>
                  </a:extLst>
                </a:hlinkClick>
              </a:rPr>
              <a:t>www.freepik.com/</a:t>
            </a:r>
            <a:endParaRPr lang="en-IN" sz="1200" dirty="0">
              <a:solidFill>
                <a:srgbClr val="0000FF"/>
              </a:solidFill>
              <a:latin typeface="+mn-lt"/>
            </a:endParaRPr>
          </a:p>
        </p:txBody>
      </p:sp>
      <p:cxnSp>
        <p:nvCxnSpPr>
          <p:cNvPr id="5" name="Straight Connector 4">
            <a:extLst>
              <a:ext uri="{FF2B5EF4-FFF2-40B4-BE49-F238E27FC236}">
                <a16:creationId xmlns:a16="http://schemas.microsoft.com/office/drawing/2014/main" id="{CA22F707-7F22-48A3-97EC-98EFB1023A55}"/>
              </a:ext>
            </a:extLst>
          </p:cNvPr>
          <p:cNvCxnSpPr/>
          <p:nvPr/>
        </p:nvCxnSpPr>
        <p:spPr>
          <a:xfrm>
            <a:off x="0" y="6055360"/>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pic>
        <p:nvPicPr>
          <p:cNvPr id="6" name="Picture 5" descr="A ladder leading to a large yellow circle&#10;&#10;Description automatically generated">
            <a:extLst>
              <a:ext uri="{FF2B5EF4-FFF2-40B4-BE49-F238E27FC236}">
                <a16:creationId xmlns:a16="http://schemas.microsoft.com/office/drawing/2014/main" id="{E2920B14-B344-4926-9729-BC7EBD91FF9A}"/>
              </a:ext>
            </a:extLst>
          </p:cNvPr>
          <p:cNvPicPr>
            <a:picLocks noChangeAspect="1"/>
          </p:cNvPicPr>
          <p:nvPr/>
        </p:nvPicPr>
        <p:blipFill rotWithShape="1">
          <a:blip r:embed="rId3">
            <a:alphaModFix amt="85000"/>
          </a:blip>
          <a:srcRect l="13763" t="6135" r="13650"/>
          <a:stretch/>
        </p:blipFill>
        <p:spPr>
          <a:xfrm>
            <a:off x="7345680" y="1442720"/>
            <a:ext cx="4500880" cy="4632960"/>
          </a:xfrm>
          <a:prstGeom prst="rect">
            <a:avLst/>
          </a:prstGeom>
        </p:spPr>
      </p:pic>
      <p:sp>
        <p:nvSpPr>
          <p:cNvPr id="7" name="TextBox 6">
            <a:extLst>
              <a:ext uri="{FF2B5EF4-FFF2-40B4-BE49-F238E27FC236}">
                <a16:creationId xmlns:a16="http://schemas.microsoft.com/office/drawing/2014/main" id="{6C264928-EACB-4739-BDDA-6799C99356F3}"/>
              </a:ext>
            </a:extLst>
          </p:cNvPr>
          <p:cNvSpPr txBox="1"/>
          <p:nvPr/>
        </p:nvSpPr>
        <p:spPr>
          <a:xfrm>
            <a:off x="8839200" y="3168609"/>
            <a:ext cx="1503681" cy="630942"/>
          </a:xfrm>
          <a:prstGeom prst="rect">
            <a:avLst/>
          </a:prstGeom>
          <a:noFill/>
        </p:spPr>
        <p:txBody>
          <a:bodyPr wrap="square" rtlCol="0">
            <a:spAutoFit/>
          </a:bodyPr>
          <a:lstStyle/>
          <a:p>
            <a:pPr>
              <a:spcAft>
                <a:spcPts val="800"/>
              </a:spcAft>
            </a:pPr>
            <a:r>
              <a:rPr lang="en-IN" sz="3500" b="1" dirty="0">
                <a:solidFill>
                  <a:schemeClr val="tx1"/>
                </a:solidFill>
                <a:latin typeface="+mn-lt"/>
              </a:rPr>
              <a:t>GOAL</a:t>
            </a:r>
          </a:p>
        </p:txBody>
      </p:sp>
      <p:sp>
        <p:nvSpPr>
          <p:cNvPr id="8" name="TextBox 7">
            <a:extLst>
              <a:ext uri="{FF2B5EF4-FFF2-40B4-BE49-F238E27FC236}">
                <a16:creationId xmlns:a16="http://schemas.microsoft.com/office/drawing/2014/main" id="{3003211F-4414-A46B-C646-50EDE491C9F9}"/>
              </a:ext>
            </a:extLst>
          </p:cNvPr>
          <p:cNvSpPr txBox="1"/>
          <p:nvPr/>
        </p:nvSpPr>
        <p:spPr>
          <a:xfrm>
            <a:off x="345439" y="2026888"/>
            <a:ext cx="6171901" cy="3293209"/>
          </a:xfrm>
          <a:prstGeom prst="rect">
            <a:avLst/>
          </a:prstGeom>
          <a:noFill/>
        </p:spPr>
        <p:txBody>
          <a:bodyPr wrap="square">
            <a:spAutoFit/>
          </a:bodyPr>
          <a:lstStyle/>
          <a:p>
            <a:r>
              <a:rPr lang="en-US" sz="1600" b="1" dirty="0"/>
              <a:t>Learning Objectives:-</a:t>
            </a:r>
          </a:p>
          <a:p>
            <a:endParaRPr lang="en-US" sz="1600" b="1" dirty="0"/>
          </a:p>
          <a:p>
            <a:pPr marL="285750" indent="-285750">
              <a:buFont typeface="Arial" panose="020B0604020202020204" pitchFamily="34" charset="0"/>
              <a:buChar char="•"/>
            </a:pPr>
            <a:r>
              <a:rPr lang="en-US" sz="1600" dirty="0"/>
              <a:t>Understand and analyze MODIS satellite fire data specific to India.</a:t>
            </a:r>
          </a:p>
          <a:p>
            <a:pPr marL="285750" indent="-285750">
              <a:buFont typeface="Arial" panose="020B0604020202020204" pitchFamily="34" charset="0"/>
              <a:buChar char="•"/>
            </a:pPr>
            <a:r>
              <a:rPr lang="en-US" sz="1600" dirty="0"/>
              <a:t>Learn preprocessing techniques for handling real-world geospatial datasets.</a:t>
            </a:r>
          </a:p>
          <a:p>
            <a:pPr marL="285750" indent="-285750">
              <a:buFont typeface="Arial" panose="020B0604020202020204" pitchFamily="34" charset="0"/>
              <a:buChar char="•"/>
            </a:pPr>
            <a:r>
              <a:rPr lang="en-US" sz="1600" dirty="0"/>
              <a:t>Apply feature scaling and encoding for machine learning readiness.</a:t>
            </a:r>
          </a:p>
          <a:p>
            <a:pPr marL="285750" indent="-285750">
              <a:buFont typeface="Arial" panose="020B0604020202020204" pitchFamily="34" charset="0"/>
              <a:buChar char="•"/>
            </a:pPr>
            <a:r>
              <a:rPr lang="en-US" sz="1600" dirty="0"/>
              <a:t>Build and evaluate a classification model to predict fire types.</a:t>
            </a:r>
          </a:p>
          <a:p>
            <a:pPr marL="285750" indent="-285750">
              <a:buFont typeface="Arial" panose="020B0604020202020204" pitchFamily="34" charset="0"/>
              <a:buChar char="•"/>
            </a:pPr>
            <a:r>
              <a:rPr lang="en-US" sz="1600" dirty="0"/>
              <a:t>Deploy a machine learning model using </a:t>
            </a:r>
            <a:r>
              <a:rPr lang="en-US" sz="1600" dirty="0" err="1"/>
              <a:t>Streamlit</a:t>
            </a:r>
            <a:r>
              <a:rPr lang="en-US" sz="1600" dirty="0"/>
              <a:t> for real-time predictions.</a:t>
            </a:r>
          </a:p>
          <a:p>
            <a:pPr marL="285750" indent="-285750">
              <a:buFont typeface="Arial" panose="020B0604020202020204" pitchFamily="34" charset="0"/>
              <a:buChar char="•"/>
            </a:pPr>
            <a:r>
              <a:rPr lang="en-US" sz="1600" dirty="0"/>
              <a:t>Tackle challenges related to large file handling and model integration in web applications.</a:t>
            </a:r>
          </a:p>
        </p:txBody>
      </p:sp>
    </p:spTree>
    <p:extLst>
      <p:ext uri="{BB962C8B-B14F-4D97-AF65-F5344CB8AC3E}">
        <p14:creationId xmlns:p14="http://schemas.microsoft.com/office/powerpoint/2010/main" val="29320524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61D872-7EC7-439F-A588-B1D90CB7A92F}"/>
              </a:ext>
            </a:extLst>
          </p:cNvPr>
          <p:cNvSpPr txBox="1"/>
          <p:nvPr/>
        </p:nvSpPr>
        <p:spPr>
          <a:xfrm>
            <a:off x="135834" y="1067664"/>
            <a:ext cx="6102626" cy="400110"/>
          </a:xfrm>
          <a:prstGeom prst="rect">
            <a:avLst/>
          </a:prstGeom>
          <a:noFill/>
        </p:spPr>
        <p:txBody>
          <a:bodyPr wrap="square">
            <a:spAutoFit/>
          </a:bodyPr>
          <a:lstStyle/>
          <a:p>
            <a:r>
              <a:rPr lang="en-US" sz="1800" b="1" dirty="0">
                <a:solidFill>
                  <a:srgbClr val="213163"/>
                </a:solidFill>
              </a:rPr>
              <a:t>T</a:t>
            </a:r>
            <a:r>
              <a:rPr lang="en-IN" sz="2000" b="1" dirty="0" err="1">
                <a:solidFill>
                  <a:srgbClr val="213163"/>
                </a:solidFill>
              </a:rPr>
              <a:t>ools</a:t>
            </a:r>
            <a:r>
              <a:rPr lang="en-IN" sz="2000" b="1" dirty="0">
                <a:solidFill>
                  <a:srgbClr val="213163"/>
                </a:solidFill>
              </a:rPr>
              <a:t> and Technology used </a:t>
            </a:r>
          </a:p>
        </p:txBody>
      </p:sp>
      <p:sp>
        <p:nvSpPr>
          <p:cNvPr id="2" name="TextBox 1">
            <a:extLst>
              <a:ext uri="{FF2B5EF4-FFF2-40B4-BE49-F238E27FC236}">
                <a16:creationId xmlns:a16="http://schemas.microsoft.com/office/drawing/2014/main" id="{347AB439-CA6C-BB39-E14A-F0702FE8DDEC}"/>
              </a:ext>
            </a:extLst>
          </p:cNvPr>
          <p:cNvSpPr txBox="1"/>
          <p:nvPr/>
        </p:nvSpPr>
        <p:spPr>
          <a:xfrm>
            <a:off x="810386" y="2311729"/>
            <a:ext cx="9913601" cy="2862322"/>
          </a:xfrm>
          <a:prstGeom prst="rect">
            <a:avLst/>
          </a:prstGeom>
          <a:noFill/>
        </p:spPr>
        <p:txBody>
          <a:bodyPr wrap="square">
            <a:spAutoFit/>
          </a:bodyPr>
          <a:lstStyle/>
          <a:p>
            <a:r>
              <a:rPr lang="en-US" sz="1800" b="1" dirty="0"/>
              <a:t>Tools and Technology Used:-</a:t>
            </a:r>
          </a:p>
          <a:p>
            <a:endParaRPr lang="en-US" sz="1800" b="1" dirty="0"/>
          </a:p>
          <a:p>
            <a:pPr marL="285750" indent="-285750">
              <a:buFont typeface="Arial" panose="020B0604020202020204" pitchFamily="34" charset="0"/>
              <a:buChar char="•"/>
            </a:pPr>
            <a:r>
              <a:rPr lang="en-US" sz="1800" b="1" dirty="0"/>
              <a:t>Python</a:t>
            </a:r>
            <a:r>
              <a:rPr lang="en-US" sz="1800" dirty="0"/>
              <a:t> – Core language for data processing, modeling, and deployment.</a:t>
            </a:r>
          </a:p>
          <a:p>
            <a:pPr marL="285750" indent="-285750">
              <a:buFont typeface="Arial" panose="020B0604020202020204" pitchFamily="34" charset="0"/>
              <a:buChar char="•"/>
            </a:pPr>
            <a:r>
              <a:rPr lang="en-US" sz="1800" b="1" dirty="0"/>
              <a:t>Pandas &amp; NumPy</a:t>
            </a:r>
            <a:r>
              <a:rPr lang="en-US" sz="1800" dirty="0"/>
              <a:t> – For data cleaning, manipulation, and numerical computations.</a:t>
            </a:r>
          </a:p>
          <a:p>
            <a:pPr marL="285750" indent="-285750">
              <a:buFont typeface="Arial" panose="020B0604020202020204" pitchFamily="34" charset="0"/>
              <a:buChar char="•"/>
            </a:pPr>
            <a:r>
              <a:rPr lang="en-US" sz="1800" b="1" dirty="0"/>
              <a:t>Scikit-learn</a:t>
            </a:r>
            <a:r>
              <a:rPr lang="en-US" sz="1800" dirty="0"/>
              <a:t> – To build and train machine learning classification models.</a:t>
            </a:r>
          </a:p>
          <a:p>
            <a:pPr marL="285750" indent="-285750">
              <a:buFont typeface="Arial" panose="020B0604020202020204" pitchFamily="34" charset="0"/>
              <a:buChar char="•"/>
            </a:pPr>
            <a:r>
              <a:rPr lang="en-US" sz="1800" b="1" dirty="0" err="1"/>
              <a:t>Joblib</a:t>
            </a:r>
            <a:r>
              <a:rPr lang="en-US" sz="1800" dirty="0"/>
              <a:t> – For saving and loading large model and scaler files efficiently.</a:t>
            </a:r>
          </a:p>
          <a:p>
            <a:pPr marL="285750" indent="-285750">
              <a:buFont typeface="Arial" panose="020B0604020202020204" pitchFamily="34" charset="0"/>
              <a:buChar char="•"/>
            </a:pPr>
            <a:r>
              <a:rPr lang="en-US" sz="1800" b="1" dirty="0" err="1"/>
              <a:t>Streamlit</a:t>
            </a:r>
            <a:r>
              <a:rPr lang="en-US" sz="1800" dirty="0"/>
              <a:t> – To create an interactive web application for fire type prediction.</a:t>
            </a:r>
          </a:p>
          <a:p>
            <a:pPr marL="285750" indent="-285750">
              <a:buFont typeface="Arial" panose="020B0604020202020204" pitchFamily="34" charset="0"/>
              <a:buChar char="•"/>
            </a:pPr>
            <a:r>
              <a:rPr lang="en-US" sz="1800" b="1" dirty="0"/>
              <a:t>Matplotlib &amp; Seaborn</a:t>
            </a:r>
            <a:r>
              <a:rPr lang="en-US" sz="1800" dirty="0"/>
              <a:t> – For data visualization and exploratory data analysis.</a:t>
            </a:r>
          </a:p>
          <a:p>
            <a:pPr marL="285750" indent="-285750">
              <a:buFont typeface="Arial" panose="020B0604020202020204" pitchFamily="34" charset="0"/>
              <a:buChar char="•"/>
            </a:pPr>
            <a:r>
              <a:rPr lang="en-US" sz="1800" b="1" dirty="0"/>
              <a:t>Google Drive</a:t>
            </a:r>
            <a:r>
              <a:rPr lang="en-US" sz="1800" dirty="0"/>
              <a:t> – Used for sharing large model files exceeding GitHub's size limit.</a:t>
            </a:r>
          </a:p>
          <a:p>
            <a:pPr marL="285750" indent="-285750">
              <a:buFont typeface="Arial" panose="020B0604020202020204" pitchFamily="34" charset="0"/>
              <a:buChar char="•"/>
            </a:pPr>
            <a:r>
              <a:rPr lang="en-US" sz="1800" b="1" dirty="0" err="1"/>
              <a:t>Jupyter</a:t>
            </a:r>
            <a:r>
              <a:rPr lang="en-US" sz="1800" b="1" dirty="0"/>
              <a:t> Notebook</a:t>
            </a:r>
            <a:r>
              <a:rPr lang="en-US" sz="1800" dirty="0"/>
              <a:t> – For exploratory analysis and model development.</a:t>
            </a:r>
          </a:p>
        </p:txBody>
      </p:sp>
    </p:spTree>
    <p:extLst>
      <p:ext uri="{BB962C8B-B14F-4D97-AF65-F5344CB8AC3E}">
        <p14:creationId xmlns:p14="http://schemas.microsoft.com/office/powerpoint/2010/main" val="5645712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61D872-7EC7-439F-A588-B1D90CB7A92F}"/>
              </a:ext>
            </a:extLst>
          </p:cNvPr>
          <p:cNvSpPr txBox="1"/>
          <p:nvPr/>
        </p:nvSpPr>
        <p:spPr>
          <a:xfrm>
            <a:off x="268356" y="1014656"/>
            <a:ext cx="6102626" cy="400110"/>
          </a:xfrm>
          <a:prstGeom prst="rect">
            <a:avLst/>
          </a:prstGeom>
          <a:noFill/>
        </p:spPr>
        <p:txBody>
          <a:bodyPr wrap="square">
            <a:spAutoFit/>
          </a:bodyPr>
          <a:lstStyle/>
          <a:p>
            <a:r>
              <a:rPr lang="en-US" sz="2000" b="1" dirty="0">
                <a:solidFill>
                  <a:srgbClr val="213163"/>
                </a:solidFill>
              </a:rPr>
              <a:t>Methodology</a:t>
            </a:r>
            <a:r>
              <a:rPr lang="en-US" sz="1800" b="1" dirty="0">
                <a:solidFill>
                  <a:srgbClr val="213163"/>
                </a:solidFill>
              </a:rPr>
              <a:t> </a:t>
            </a:r>
            <a:endParaRPr lang="en-IN" sz="1800" dirty="0">
              <a:solidFill>
                <a:srgbClr val="213163"/>
              </a:solidFill>
            </a:endParaRPr>
          </a:p>
        </p:txBody>
      </p:sp>
      <p:sp>
        <p:nvSpPr>
          <p:cNvPr id="2" name="TextBox 1">
            <a:extLst>
              <a:ext uri="{FF2B5EF4-FFF2-40B4-BE49-F238E27FC236}">
                <a16:creationId xmlns:a16="http://schemas.microsoft.com/office/drawing/2014/main" id="{ABBF487D-BA17-0A88-0DA9-DED497099CCA}"/>
              </a:ext>
            </a:extLst>
          </p:cNvPr>
          <p:cNvSpPr txBox="1"/>
          <p:nvPr/>
        </p:nvSpPr>
        <p:spPr>
          <a:xfrm>
            <a:off x="349037" y="1704938"/>
            <a:ext cx="11296115" cy="4708981"/>
          </a:xfrm>
          <a:prstGeom prst="rect">
            <a:avLst/>
          </a:prstGeom>
          <a:noFill/>
        </p:spPr>
        <p:txBody>
          <a:bodyPr wrap="square">
            <a:spAutoFit/>
          </a:bodyPr>
          <a:lstStyle/>
          <a:p>
            <a:r>
              <a:rPr lang="en-US" sz="1200" b="1" dirty="0"/>
              <a:t>Methodology:-</a:t>
            </a:r>
          </a:p>
          <a:p>
            <a:endParaRPr lang="en-US" sz="1200" b="1" dirty="0"/>
          </a:p>
          <a:p>
            <a:pPr marL="228600" indent="-228600">
              <a:buFont typeface="+mj-lt"/>
              <a:buAutoNum type="arabicParenR"/>
            </a:pPr>
            <a:r>
              <a:rPr lang="en-US" sz="1200" b="1" dirty="0"/>
              <a:t>Data Collection</a:t>
            </a:r>
            <a:endParaRPr lang="en-US" sz="1200" dirty="0"/>
          </a:p>
          <a:p>
            <a:pPr marL="228600" lvl="1" indent="-228600">
              <a:buFont typeface="Arial" panose="020B0604020202020204" pitchFamily="34" charset="0"/>
              <a:buChar char="•"/>
            </a:pPr>
            <a:r>
              <a:rPr lang="en-US" sz="1200" dirty="0"/>
              <a:t>Acquired MODIS satellite fire data for India from the years 2021, 2022, and 2023 in CSV format.</a:t>
            </a:r>
          </a:p>
          <a:p>
            <a:pPr marL="228600" indent="-228600">
              <a:buFont typeface="+mj-lt"/>
              <a:buAutoNum type="arabicParenR"/>
            </a:pPr>
            <a:r>
              <a:rPr lang="en-US" sz="1200" b="1" dirty="0"/>
              <a:t>Data Preprocessing</a:t>
            </a:r>
            <a:endParaRPr lang="en-US" sz="1200" dirty="0"/>
          </a:p>
          <a:p>
            <a:pPr marL="228600" lvl="1" indent="-228600">
              <a:buFont typeface="Arial" panose="020B0604020202020204" pitchFamily="34" charset="0"/>
              <a:buChar char="•"/>
            </a:pPr>
            <a:r>
              <a:rPr lang="en-US" sz="1200" dirty="0"/>
              <a:t>Merged datasets and cleaned missing or invalid values.</a:t>
            </a:r>
          </a:p>
          <a:p>
            <a:pPr marL="228600" lvl="1" indent="-228600">
              <a:buFont typeface="Arial" panose="020B0604020202020204" pitchFamily="34" charset="0"/>
              <a:buChar char="•"/>
            </a:pPr>
            <a:r>
              <a:rPr lang="en-US" sz="1200" dirty="0"/>
              <a:t>Converted categorical variables (e.g., confidence level) into numerical format.</a:t>
            </a:r>
          </a:p>
          <a:p>
            <a:pPr marL="228600" lvl="1" indent="-228600">
              <a:buFont typeface="Arial" panose="020B0604020202020204" pitchFamily="34" charset="0"/>
              <a:buChar char="•"/>
            </a:pPr>
            <a:r>
              <a:rPr lang="en-US" sz="1200" dirty="0"/>
              <a:t>Scaled numerical features using standard scaling for uniformity.</a:t>
            </a:r>
          </a:p>
          <a:p>
            <a:pPr marL="228600" indent="-228600">
              <a:buFont typeface="+mj-lt"/>
              <a:buAutoNum type="arabicParenR"/>
            </a:pPr>
            <a:r>
              <a:rPr lang="en-US" sz="1200" b="1" dirty="0"/>
              <a:t>Exploratory Data Analysis (EDA)</a:t>
            </a:r>
            <a:endParaRPr lang="en-US" sz="1200" dirty="0"/>
          </a:p>
          <a:p>
            <a:pPr marL="228600" lvl="1" indent="-228600">
              <a:buFont typeface="Arial" panose="020B0604020202020204" pitchFamily="34" charset="0"/>
              <a:buChar char="•"/>
            </a:pPr>
            <a:r>
              <a:rPr lang="en-US" sz="1200" dirty="0"/>
              <a:t>Visualized data distributions and correlations to understand feature relevance.</a:t>
            </a:r>
          </a:p>
          <a:p>
            <a:pPr marL="228600" lvl="1" indent="-228600">
              <a:buFont typeface="Arial" panose="020B0604020202020204" pitchFamily="34" charset="0"/>
              <a:buChar char="•"/>
            </a:pPr>
            <a:r>
              <a:rPr lang="en-US" sz="1200" dirty="0"/>
              <a:t>Identified patterns and anomalies using histograms, heatmaps, and pair plots.</a:t>
            </a:r>
          </a:p>
          <a:p>
            <a:pPr marL="228600" indent="-228600">
              <a:buFont typeface="+mj-lt"/>
              <a:buAutoNum type="arabicParenR"/>
            </a:pPr>
            <a:r>
              <a:rPr lang="en-US" sz="1200" b="1" dirty="0"/>
              <a:t>Model Building</a:t>
            </a:r>
            <a:endParaRPr lang="en-US" sz="1200" dirty="0"/>
          </a:p>
          <a:p>
            <a:pPr marL="228600" lvl="1" indent="-228600">
              <a:buFont typeface="Arial" panose="020B0604020202020204" pitchFamily="34" charset="0"/>
              <a:buChar char="•"/>
            </a:pPr>
            <a:r>
              <a:rPr lang="en-US" sz="1200" dirty="0"/>
              <a:t>Built a classification model using machine learning algorithms (e.g., Random Forest or </a:t>
            </a:r>
            <a:r>
              <a:rPr lang="en-US" sz="1200" dirty="0" err="1"/>
              <a:t>XGBoost</a:t>
            </a:r>
            <a:r>
              <a:rPr lang="en-US" sz="1200" dirty="0"/>
              <a:t>).</a:t>
            </a:r>
          </a:p>
          <a:p>
            <a:pPr marL="228600" lvl="1" indent="-228600">
              <a:buFont typeface="Arial" panose="020B0604020202020204" pitchFamily="34" charset="0"/>
              <a:buChar char="•"/>
            </a:pPr>
            <a:r>
              <a:rPr lang="en-US" sz="1200" dirty="0"/>
              <a:t>Split data into training and testing sets for model evaluation.</a:t>
            </a:r>
          </a:p>
          <a:p>
            <a:pPr marL="228600" lvl="1" indent="-228600">
              <a:buFont typeface="Arial" panose="020B0604020202020204" pitchFamily="34" charset="0"/>
              <a:buChar char="•"/>
            </a:pPr>
            <a:r>
              <a:rPr lang="en-US" sz="1200" dirty="0"/>
              <a:t>Optimized hyperparameters for best performance.</a:t>
            </a:r>
          </a:p>
          <a:p>
            <a:pPr marL="228600" indent="-228600">
              <a:buFont typeface="+mj-lt"/>
              <a:buAutoNum type="arabicParenR"/>
            </a:pPr>
            <a:r>
              <a:rPr lang="en-US" sz="1200" b="1" dirty="0"/>
              <a:t>Model Evaluation</a:t>
            </a:r>
            <a:endParaRPr lang="en-US" sz="1200" dirty="0"/>
          </a:p>
          <a:p>
            <a:pPr marL="228600" lvl="1" indent="-228600">
              <a:buFont typeface="Arial" panose="020B0604020202020204" pitchFamily="34" charset="0"/>
              <a:buChar char="•"/>
            </a:pPr>
            <a:r>
              <a:rPr lang="en-US" sz="1200" dirty="0"/>
              <a:t>Assessed the model using accuracy, precision, recall, and F1-score.</a:t>
            </a:r>
          </a:p>
          <a:p>
            <a:pPr marL="228600" lvl="1" indent="-228600">
              <a:buFont typeface="Arial" panose="020B0604020202020204" pitchFamily="34" charset="0"/>
              <a:buChar char="•"/>
            </a:pPr>
            <a:r>
              <a:rPr lang="en-US" sz="1200" dirty="0"/>
              <a:t>Selected the best-performing model for deployment.</a:t>
            </a:r>
          </a:p>
          <a:p>
            <a:pPr marL="228600" indent="-228600">
              <a:buFont typeface="+mj-lt"/>
              <a:buAutoNum type="arabicParenR"/>
            </a:pPr>
            <a:r>
              <a:rPr lang="en-US" sz="1200" b="1" dirty="0"/>
              <a:t>Model Deployment</a:t>
            </a:r>
            <a:endParaRPr lang="en-US" sz="1200" dirty="0"/>
          </a:p>
          <a:p>
            <a:pPr marL="228600" lvl="1" indent="-228600">
              <a:buFont typeface="Arial" panose="020B0604020202020204" pitchFamily="34" charset="0"/>
              <a:buChar char="•"/>
            </a:pPr>
            <a:r>
              <a:rPr lang="en-US" sz="1200" dirty="0"/>
              <a:t>Integrated the trained model and scaler into a </a:t>
            </a:r>
            <a:r>
              <a:rPr lang="en-US" sz="1200" dirty="0" err="1"/>
              <a:t>Streamlit</a:t>
            </a:r>
            <a:r>
              <a:rPr lang="en-US" sz="1200" dirty="0"/>
              <a:t> app.</a:t>
            </a:r>
          </a:p>
          <a:p>
            <a:pPr marL="228600" lvl="1" indent="-228600">
              <a:buFont typeface="Arial" panose="020B0604020202020204" pitchFamily="34" charset="0"/>
              <a:buChar char="•"/>
            </a:pPr>
            <a:r>
              <a:rPr lang="en-US" sz="1200" dirty="0"/>
              <a:t>Developed a user-friendly web interface for inputting fire data and predicting fire types.</a:t>
            </a:r>
          </a:p>
          <a:p>
            <a:pPr marL="228600" indent="-228600">
              <a:buFont typeface="+mj-lt"/>
              <a:buAutoNum type="arabicParenR"/>
            </a:pPr>
            <a:r>
              <a:rPr lang="en-US" sz="1200" b="1" dirty="0"/>
              <a:t>Handling Deployment Constraints</a:t>
            </a:r>
            <a:endParaRPr lang="en-US" sz="1200" dirty="0"/>
          </a:p>
          <a:p>
            <a:pPr marL="228600" lvl="1" indent="-228600">
              <a:buFont typeface="Arial" panose="020B0604020202020204" pitchFamily="34" charset="0"/>
              <a:buChar char="•"/>
            </a:pPr>
            <a:r>
              <a:rPr lang="en-US" sz="1200" dirty="0"/>
              <a:t>Managed model file size limitations by sharing large files via Google Drive.</a:t>
            </a:r>
          </a:p>
          <a:p>
            <a:pPr marL="228600" lvl="1" indent="-228600">
              <a:buFont typeface="Arial" panose="020B0604020202020204" pitchFamily="34" charset="0"/>
              <a:buChar char="•"/>
            </a:pPr>
            <a:r>
              <a:rPr lang="en-US" sz="1200" dirty="0"/>
              <a:t>Ensured portability and usability across different platforms.</a:t>
            </a:r>
          </a:p>
          <a:p>
            <a:endParaRPr lang="en-IN" sz="1200" dirty="0">
              <a:solidFill>
                <a:srgbClr val="213163"/>
              </a:solidFill>
            </a:endParaRPr>
          </a:p>
        </p:txBody>
      </p:sp>
    </p:spTree>
    <p:extLst>
      <p:ext uri="{BB962C8B-B14F-4D97-AF65-F5344CB8AC3E}">
        <p14:creationId xmlns:p14="http://schemas.microsoft.com/office/powerpoint/2010/main" val="27067900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61D872-7EC7-439F-A588-B1D90CB7A92F}"/>
              </a:ext>
            </a:extLst>
          </p:cNvPr>
          <p:cNvSpPr txBox="1"/>
          <p:nvPr/>
        </p:nvSpPr>
        <p:spPr>
          <a:xfrm>
            <a:off x="255104" y="1054412"/>
            <a:ext cx="6102626" cy="400110"/>
          </a:xfrm>
          <a:prstGeom prst="rect">
            <a:avLst/>
          </a:prstGeom>
          <a:noFill/>
        </p:spPr>
        <p:txBody>
          <a:bodyPr wrap="square">
            <a:spAutoFit/>
          </a:bodyPr>
          <a:lstStyle/>
          <a:p>
            <a:r>
              <a:rPr lang="en-US" sz="2000" b="1" dirty="0">
                <a:solidFill>
                  <a:srgbClr val="213163"/>
                </a:solidFill>
              </a:rPr>
              <a:t>Problem Statement:  </a:t>
            </a:r>
            <a:endParaRPr lang="en-IN" sz="2000" b="1" dirty="0">
              <a:solidFill>
                <a:srgbClr val="213163"/>
              </a:solidFill>
            </a:endParaRPr>
          </a:p>
        </p:txBody>
      </p:sp>
      <p:sp>
        <p:nvSpPr>
          <p:cNvPr id="2" name="TextBox 1">
            <a:extLst>
              <a:ext uri="{FF2B5EF4-FFF2-40B4-BE49-F238E27FC236}">
                <a16:creationId xmlns:a16="http://schemas.microsoft.com/office/drawing/2014/main" id="{DA675CBB-F680-9728-A6D4-BB8259AD914A}"/>
              </a:ext>
            </a:extLst>
          </p:cNvPr>
          <p:cNvSpPr txBox="1"/>
          <p:nvPr/>
        </p:nvSpPr>
        <p:spPr>
          <a:xfrm>
            <a:off x="784023" y="2067423"/>
            <a:ext cx="9077154" cy="3693319"/>
          </a:xfrm>
          <a:prstGeom prst="rect">
            <a:avLst/>
          </a:prstGeom>
          <a:noFill/>
        </p:spPr>
        <p:txBody>
          <a:bodyPr wrap="square">
            <a:spAutoFit/>
          </a:bodyPr>
          <a:lstStyle/>
          <a:p>
            <a:r>
              <a:rPr lang="en-US" sz="1800" b="1" dirty="0"/>
              <a:t>Problem Statement:-</a:t>
            </a:r>
          </a:p>
          <a:p>
            <a:endParaRPr lang="en-US" sz="1800" b="1" dirty="0"/>
          </a:p>
          <a:p>
            <a:r>
              <a:rPr lang="en-US" sz="1800" dirty="0"/>
              <a:t>India experiences numerous fire incidents annually, affecting forests, agriculture, and offshore areas. Accurately identifying the type of fire based on satellite data is crucial for timely response and effective disaster management.</a:t>
            </a:r>
          </a:p>
          <a:p>
            <a:r>
              <a:rPr lang="en-US" sz="1800" dirty="0"/>
              <a:t>However, raw satellite data such as from MODIS (Moderate Resolution Imaging Spectroradiometer) can be complex and requires processing and classification to determine the nature of the fire. Manual analysis is not feasible at scale due to the volume and complexity of data.</a:t>
            </a:r>
          </a:p>
          <a:p>
            <a:r>
              <a:rPr lang="en-US" sz="1800" b="1" dirty="0"/>
              <a:t>The objective of this project is to develop a machine learning-based system that can classify different types of fires in India (e.g., vegetation fire, offshore fire, and other land sources) using MODIS satellite data, and deploy it via a user-friendly web application for real-time prediction.</a:t>
            </a:r>
            <a:endParaRPr lang="en-US" sz="1800" dirty="0"/>
          </a:p>
        </p:txBody>
      </p:sp>
    </p:spTree>
    <p:extLst>
      <p:ext uri="{BB962C8B-B14F-4D97-AF65-F5344CB8AC3E}">
        <p14:creationId xmlns:p14="http://schemas.microsoft.com/office/powerpoint/2010/main" val="319659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61D872-7EC7-439F-A588-B1D90CB7A92F}"/>
              </a:ext>
            </a:extLst>
          </p:cNvPr>
          <p:cNvSpPr txBox="1"/>
          <p:nvPr/>
        </p:nvSpPr>
        <p:spPr>
          <a:xfrm>
            <a:off x="255104" y="1054412"/>
            <a:ext cx="6102626" cy="400110"/>
          </a:xfrm>
          <a:prstGeom prst="rect">
            <a:avLst/>
          </a:prstGeom>
          <a:noFill/>
        </p:spPr>
        <p:txBody>
          <a:bodyPr wrap="square">
            <a:spAutoFit/>
          </a:bodyPr>
          <a:lstStyle/>
          <a:p>
            <a:r>
              <a:rPr lang="en-US" sz="2000" b="1" dirty="0">
                <a:solidFill>
                  <a:srgbClr val="213163"/>
                </a:solidFill>
              </a:rPr>
              <a:t>Solution:  </a:t>
            </a:r>
            <a:endParaRPr lang="en-IN" sz="2000" b="1" dirty="0">
              <a:solidFill>
                <a:srgbClr val="213163"/>
              </a:solidFill>
            </a:endParaRPr>
          </a:p>
        </p:txBody>
      </p:sp>
      <p:sp>
        <p:nvSpPr>
          <p:cNvPr id="2" name="TextBox 1">
            <a:extLst>
              <a:ext uri="{FF2B5EF4-FFF2-40B4-BE49-F238E27FC236}">
                <a16:creationId xmlns:a16="http://schemas.microsoft.com/office/drawing/2014/main" id="{96FBE528-1968-67E9-336A-36B9EDEFF365}"/>
              </a:ext>
            </a:extLst>
          </p:cNvPr>
          <p:cNvSpPr txBox="1"/>
          <p:nvPr/>
        </p:nvSpPr>
        <p:spPr>
          <a:xfrm>
            <a:off x="602681" y="1583330"/>
            <a:ext cx="10986637" cy="4478149"/>
          </a:xfrm>
          <a:prstGeom prst="rect">
            <a:avLst/>
          </a:prstGeom>
          <a:noFill/>
        </p:spPr>
        <p:txBody>
          <a:bodyPr wrap="square">
            <a:spAutoFit/>
          </a:bodyPr>
          <a:lstStyle/>
          <a:p>
            <a:r>
              <a:rPr lang="en-US" sz="1500" b="1" dirty="0"/>
              <a:t>Solution</a:t>
            </a:r>
          </a:p>
          <a:p>
            <a:endParaRPr lang="en-US" sz="1500" b="1" dirty="0"/>
          </a:p>
          <a:p>
            <a:r>
              <a:rPr lang="en-US" sz="1500" dirty="0"/>
              <a:t>To address the problem of identifying fire types from complex satellite data, the following solution was implemented:-</a:t>
            </a:r>
          </a:p>
          <a:p>
            <a:pPr marL="342900" indent="-342900">
              <a:buFont typeface="+mj-lt"/>
              <a:buAutoNum type="arabicPeriod"/>
            </a:pPr>
            <a:r>
              <a:rPr lang="en-US" sz="1500" b="1" dirty="0"/>
              <a:t>Data Integration and Cleaning</a:t>
            </a:r>
            <a:endParaRPr lang="en-US" sz="1500" dirty="0"/>
          </a:p>
          <a:p>
            <a:pPr marL="342900" lvl="1" indent="-342900">
              <a:buFont typeface="Arial" panose="020B0604020202020204" pitchFamily="34" charset="0"/>
              <a:buChar char="•"/>
            </a:pPr>
            <a:r>
              <a:rPr lang="en-US" sz="1500" dirty="0"/>
              <a:t>Collected MODIS satellite fire data for India (2021–2023).</a:t>
            </a:r>
          </a:p>
          <a:p>
            <a:pPr marL="342900" lvl="1" indent="-342900">
              <a:buFont typeface="Arial" panose="020B0604020202020204" pitchFamily="34" charset="0"/>
              <a:buChar char="•"/>
            </a:pPr>
            <a:r>
              <a:rPr lang="en-US" sz="1500" dirty="0"/>
              <a:t>Cleaned and merged datasets to form a unified dataset for modeling.</a:t>
            </a:r>
          </a:p>
          <a:p>
            <a:pPr marL="342900" indent="-342900">
              <a:buFont typeface="+mj-lt"/>
              <a:buAutoNum type="arabicPeriod"/>
            </a:pPr>
            <a:r>
              <a:rPr lang="en-US" sz="1500" b="1" dirty="0"/>
              <a:t>Feature Engineering</a:t>
            </a:r>
            <a:endParaRPr lang="en-US" sz="1500" dirty="0"/>
          </a:p>
          <a:p>
            <a:pPr marL="342900" lvl="1" indent="-342900">
              <a:buFont typeface="Arial" panose="020B0604020202020204" pitchFamily="34" charset="0"/>
              <a:buChar char="•"/>
            </a:pPr>
            <a:r>
              <a:rPr lang="en-US" sz="1500" dirty="0"/>
              <a:t>Selected key features such as brightness, brightness_T31, FRP, scan, track, and confidence.</a:t>
            </a:r>
          </a:p>
          <a:p>
            <a:pPr marL="342900" lvl="1" indent="-342900">
              <a:buFont typeface="Arial" panose="020B0604020202020204" pitchFamily="34" charset="0"/>
              <a:buChar char="•"/>
            </a:pPr>
            <a:r>
              <a:rPr lang="en-US" sz="1500" dirty="0"/>
              <a:t>Encoded categorical features and applied feature scaling for model compatibility.</a:t>
            </a:r>
          </a:p>
          <a:p>
            <a:pPr marL="342900" indent="-342900">
              <a:buFont typeface="+mj-lt"/>
              <a:buAutoNum type="arabicPeriod"/>
            </a:pPr>
            <a:r>
              <a:rPr lang="en-US" sz="1500" b="1" dirty="0"/>
              <a:t>Model Development</a:t>
            </a:r>
            <a:endParaRPr lang="en-US" sz="1500" dirty="0"/>
          </a:p>
          <a:p>
            <a:pPr marL="342900" lvl="1" indent="-342900">
              <a:buFont typeface="Arial" panose="020B0604020202020204" pitchFamily="34" charset="0"/>
              <a:buChar char="•"/>
            </a:pPr>
            <a:r>
              <a:rPr lang="en-US" sz="1500" dirty="0"/>
              <a:t>Trained a supervised classification model (e.g., Random Forest) to categorize fire incidents into vegetation fires, offshore fires, and other land-based sources.</a:t>
            </a:r>
          </a:p>
          <a:p>
            <a:pPr marL="342900" lvl="1" indent="-342900">
              <a:buFont typeface="Arial" panose="020B0604020202020204" pitchFamily="34" charset="0"/>
              <a:buChar char="•"/>
            </a:pPr>
            <a:r>
              <a:rPr lang="en-US" sz="1500" dirty="0"/>
              <a:t>Evaluated model performance and fine-tuned it for accuracy and robustness.</a:t>
            </a:r>
          </a:p>
          <a:p>
            <a:pPr marL="342900" indent="-342900">
              <a:buFont typeface="+mj-lt"/>
              <a:buAutoNum type="arabicPeriod"/>
            </a:pPr>
            <a:r>
              <a:rPr lang="en-US" sz="1500" b="1" dirty="0"/>
              <a:t>Deployment with </a:t>
            </a:r>
            <a:r>
              <a:rPr lang="en-US" sz="1500" b="1" dirty="0" err="1"/>
              <a:t>Streamlit</a:t>
            </a:r>
            <a:endParaRPr lang="en-US" sz="1500" dirty="0"/>
          </a:p>
          <a:p>
            <a:pPr marL="342900" lvl="1" indent="-342900">
              <a:buFont typeface="Arial" panose="020B0604020202020204" pitchFamily="34" charset="0"/>
              <a:buChar char="•"/>
            </a:pPr>
            <a:r>
              <a:rPr lang="en-US" sz="1500" dirty="0"/>
              <a:t>Built a web application using </a:t>
            </a:r>
            <a:r>
              <a:rPr lang="en-US" sz="1500" dirty="0" err="1"/>
              <a:t>Streamlit</a:t>
            </a:r>
            <a:r>
              <a:rPr lang="en-US" sz="1500" dirty="0"/>
              <a:t> to make predictions based on user inputs.</a:t>
            </a:r>
          </a:p>
          <a:p>
            <a:pPr marL="342900" lvl="1" indent="-342900">
              <a:buFont typeface="Arial" panose="020B0604020202020204" pitchFamily="34" charset="0"/>
              <a:buChar char="•"/>
            </a:pPr>
            <a:r>
              <a:rPr lang="en-US" sz="1500" dirty="0"/>
              <a:t>Integrated the trained model and scaler to enable real-time fire type classification.</a:t>
            </a:r>
          </a:p>
          <a:p>
            <a:pPr marL="342900" indent="-342900">
              <a:buFont typeface="+mj-lt"/>
              <a:buAutoNum type="arabicPeriod"/>
            </a:pPr>
            <a:r>
              <a:rPr lang="en-US" sz="1500" b="1" dirty="0"/>
              <a:t>Scalable Access</a:t>
            </a:r>
            <a:endParaRPr lang="en-US" sz="1500" dirty="0"/>
          </a:p>
          <a:p>
            <a:pPr marL="342900" lvl="1" indent="-342900">
              <a:buFont typeface="Arial" panose="020B0604020202020204" pitchFamily="34" charset="0"/>
              <a:buChar char="•"/>
            </a:pPr>
            <a:r>
              <a:rPr lang="en-US" sz="1500" dirty="0"/>
              <a:t>Hosted large model files via Google Drive due to GitHub file size limitations.</a:t>
            </a:r>
          </a:p>
          <a:p>
            <a:pPr marL="342900" lvl="1" indent="-342900">
              <a:buFont typeface="Arial" panose="020B0604020202020204" pitchFamily="34" charset="0"/>
              <a:buChar char="•"/>
            </a:pPr>
            <a:r>
              <a:rPr lang="en-US" sz="1500" dirty="0"/>
              <a:t>Designed the app to be lightweight, fast, and accessible from any device with internet access.</a:t>
            </a:r>
          </a:p>
        </p:txBody>
      </p:sp>
      <p:sp>
        <p:nvSpPr>
          <p:cNvPr id="4" name="TextBox 3">
            <a:extLst>
              <a:ext uri="{FF2B5EF4-FFF2-40B4-BE49-F238E27FC236}">
                <a16:creationId xmlns:a16="http://schemas.microsoft.com/office/drawing/2014/main" id="{EBA2E622-F953-7832-32F0-E77F537A6B97}"/>
              </a:ext>
            </a:extLst>
          </p:cNvPr>
          <p:cNvSpPr txBox="1"/>
          <p:nvPr/>
        </p:nvSpPr>
        <p:spPr>
          <a:xfrm>
            <a:off x="371643" y="6061479"/>
            <a:ext cx="11031464" cy="584775"/>
          </a:xfrm>
          <a:prstGeom prst="rect">
            <a:avLst/>
          </a:prstGeom>
          <a:noFill/>
        </p:spPr>
        <p:txBody>
          <a:bodyPr wrap="square">
            <a:spAutoFit/>
          </a:bodyPr>
          <a:lstStyle/>
          <a:p>
            <a:r>
              <a:rPr lang="en-US" sz="1600" b="1" dirty="0">
                <a:solidFill>
                  <a:srgbClr val="213163"/>
                </a:solidFill>
              </a:rPr>
              <a:t>GITHUB REPO:- https://github.com/uddipbisht/Classification_of_Fire_Types_in_India_Using_MODIS_Satellite_Data_week1.git</a:t>
            </a:r>
            <a:endParaRPr lang="en-IN" sz="1600" b="1" dirty="0">
              <a:solidFill>
                <a:srgbClr val="213163"/>
              </a:solidFill>
            </a:endParaRPr>
          </a:p>
        </p:txBody>
      </p:sp>
    </p:spTree>
    <p:extLst>
      <p:ext uri="{BB962C8B-B14F-4D97-AF65-F5344CB8AC3E}">
        <p14:creationId xmlns:p14="http://schemas.microsoft.com/office/powerpoint/2010/main" val="30029688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61D872-7EC7-439F-A588-B1D90CB7A92F}"/>
              </a:ext>
            </a:extLst>
          </p:cNvPr>
          <p:cNvSpPr txBox="1"/>
          <p:nvPr/>
        </p:nvSpPr>
        <p:spPr>
          <a:xfrm>
            <a:off x="255104" y="1054412"/>
            <a:ext cx="6102626" cy="400110"/>
          </a:xfrm>
          <a:prstGeom prst="rect">
            <a:avLst/>
          </a:prstGeom>
          <a:noFill/>
        </p:spPr>
        <p:txBody>
          <a:bodyPr wrap="square">
            <a:spAutoFit/>
          </a:bodyPr>
          <a:lstStyle/>
          <a:p>
            <a:r>
              <a:rPr lang="en-US" sz="2000" b="1" dirty="0">
                <a:solidFill>
                  <a:srgbClr val="213163"/>
                </a:solidFill>
              </a:rPr>
              <a:t>Screenshot of Output:  </a:t>
            </a:r>
            <a:endParaRPr lang="en-IN" sz="2000" b="1" dirty="0">
              <a:solidFill>
                <a:srgbClr val="213163"/>
              </a:solidFill>
            </a:endParaRPr>
          </a:p>
        </p:txBody>
      </p:sp>
      <p:sp>
        <p:nvSpPr>
          <p:cNvPr id="2" name="TextBox 1">
            <a:extLst>
              <a:ext uri="{FF2B5EF4-FFF2-40B4-BE49-F238E27FC236}">
                <a16:creationId xmlns:a16="http://schemas.microsoft.com/office/drawing/2014/main" id="{AA7C971B-0E58-EBD9-94CC-22FC11EA4E09}"/>
              </a:ext>
            </a:extLst>
          </p:cNvPr>
          <p:cNvSpPr txBox="1"/>
          <p:nvPr/>
        </p:nvSpPr>
        <p:spPr>
          <a:xfrm>
            <a:off x="684902" y="1710358"/>
            <a:ext cx="3585173" cy="400110"/>
          </a:xfrm>
          <a:prstGeom prst="rect">
            <a:avLst/>
          </a:prstGeom>
          <a:noFill/>
        </p:spPr>
        <p:txBody>
          <a:bodyPr wrap="square">
            <a:spAutoFit/>
          </a:bodyPr>
          <a:lstStyle/>
          <a:p>
            <a:pPr marL="342900" indent="-342900">
              <a:buFont typeface="Arial" panose="020B0604020202020204" pitchFamily="34" charset="0"/>
              <a:buChar char="•"/>
            </a:pPr>
            <a:r>
              <a:rPr lang="en-US" sz="2000" dirty="0"/>
              <a:t>IMPORT LIBRARIES</a:t>
            </a:r>
          </a:p>
        </p:txBody>
      </p:sp>
      <p:pic>
        <p:nvPicPr>
          <p:cNvPr id="5" name="Picture 4">
            <a:extLst>
              <a:ext uri="{FF2B5EF4-FFF2-40B4-BE49-F238E27FC236}">
                <a16:creationId xmlns:a16="http://schemas.microsoft.com/office/drawing/2014/main" id="{9632A8AD-53E0-BBD9-792F-A2648AAC0664}"/>
              </a:ext>
            </a:extLst>
          </p:cNvPr>
          <p:cNvPicPr>
            <a:picLocks noChangeAspect="1"/>
          </p:cNvPicPr>
          <p:nvPr/>
        </p:nvPicPr>
        <p:blipFill>
          <a:blip r:embed="rId2"/>
          <a:stretch>
            <a:fillRect/>
          </a:stretch>
        </p:blipFill>
        <p:spPr>
          <a:xfrm>
            <a:off x="2234242" y="2270453"/>
            <a:ext cx="7065034" cy="3729721"/>
          </a:xfrm>
          <a:prstGeom prst="rect">
            <a:avLst/>
          </a:prstGeom>
        </p:spPr>
      </p:pic>
    </p:spTree>
    <p:extLst>
      <p:ext uri="{BB962C8B-B14F-4D97-AF65-F5344CB8AC3E}">
        <p14:creationId xmlns:p14="http://schemas.microsoft.com/office/powerpoint/2010/main" val="16359494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147BAB-B4BB-6878-E776-4947BF1E83D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0217EF1-3C46-5970-E6FD-F4368CD9AC65}"/>
              </a:ext>
            </a:extLst>
          </p:cNvPr>
          <p:cNvSpPr txBox="1"/>
          <p:nvPr/>
        </p:nvSpPr>
        <p:spPr>
          <a:xfrm>
            <a:off x="255104" y="1054412"/>
            <a:ext cx="6102626" cy="400110"/>
          </a:xfrm>
          <a:prstGeom prst="rect">
            <a:avLst/>
          </a:prstGeom>
          <a:noFill/>
        </p:spPr>
        <p:txBody>
          <a:bodyPr wrap="square">
            <a:spAutoFit/>
          </a:bodyPr>
          <a:lstStyle/>
          <a:p>
            <a:r>
              <a:rPr lang="en-US" sz="2000" b="1" dirty="0">
                <a:solidFill>
                  <a:srgbClr val="213163"/>
                </a:solidFill>
              </a:rPr>
              <a:t>Screenshot of Output:  </a:t>
            </a:r>
            <a:endParaRPr lang="en-IN" sz="2000" b="1" dirty="0">
              <a:solidFill>
                <a:srgbClr val="213163"/>
              </a:solidFill>
            </a:endParaRPr>
          </a:p>
        </p:txBody>
      </p:sp>
      <p:sp>
        <p:nvSpPr>
          <p:cNvPr id="2" name="TextBox 1">
            <a:extLst>
              <a:ext uri="{FF2B5EF4-FFF2-40B4-BE49-F238E27FC236}">
                <a16:creationId xmlns:a16="http://schemas.microsoft.com/office/drawing/2014/main" id="{959B8976-F179-497D-2CE0-609F51075D55}"/>
              </a:ext>
            </a:extLst>
          </p:cNvPr>
          <p:cNvSpPr txBox="1"/>
          <p:nvPr/>
        </p:nvSpPr>
        <p:spPr>
          <a:xfrm>
            <a:off x="684902" y="1710358"/>
            <a:ext cx="3585173" cy="400110"/>
          </a:xfrm>
          <a:prstGeom prst="rect">
            <a:avLst/>
          </a:prstGeom>
          <a:noFill/>
        </p:spPr>
        <p:txBody>
          <a:bodyPr wrap="square">
            <a:spAutoFit/>
          </a:bodyPr>
          <a:lstStyle/>
          <a:p>
            <a:pPr marL="342900" indent="-342900">
              <a:buFont typeface="Arial" panose="020B0604020202020204" pitchFamily="34" charset="0"/>
              <a:buChar char="•"/>
            </a:pPr>
            <a:r>
              <a:rPr lang="en-US" sz="2000" dirty="0"/>
              <a:t>Load the Dataset</a:t>
            </a:r>
          </a:p>
        </p:txBody>
      </p:sp>
      <p:pic>
        <p:nvPicPr>
          <p:cNvPr id="6" name="Picture 5">
            <a:extLst>
              <a:ext uri="{FF2B5EF4-FFF2-40B4-BE49-F238E27FC236}">
                <a16:creationId xmlns:a16="http://schemas.microsoft.com/office/drawing/2014/main" id="{D7CA6D1B-F219-C86B-2F9B-69DBB19110C3}"/>
              </a:ext>
            </a:extLst>
          </p:cNvPr>
          <p:cNvPicPr>
            <a:picLocks noChangeAspect="1"/>
          </p:cNvPicPr>
          <p:nvPr/>
        </p:nvPicPr>
        <p:blipFill>
          <a:blip r:embed="rId2"/>
          <a:stretch>
            <a:fillRect/>
          </a:stretch>
        </p:blipFill>
        <p:spPr>
          <a:xfrm>
            <a:off x="5078186" y="742950"/>
            <a:ext cx="5906044" cy="6115050"/>
          </a:xfrm>
          <a:prstGeom prst="rect">
            <a:avLst/>
          </a:prstGeom>
        </p:spPr>
      </p:pic>
    </p:spTree>
    <p:extLst>
      <p:ext uri="{BB962C8B-B14F-4D97-AF65-F5344CB8AC3E}">
        <p14:creationId xmlns:p14="http://schemas.microsoft.com/office/powerpoint/2010/main" val="22437379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97FAEA-58A3-9D66-ECF0-3CE5F351604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B3B68C3-5F06-1408-3C85-DD9CBB431DEC}"/>
              </a:ext>
            </a:extLst>
          </p:cNvPr>
          <p:cNvSpPr txBox="1"/>
          <p:nvPr/>
        </p:nvSpPr>
        <p:spPr>
          <a:xfrm>
            <a:off x="255104" y="1054412"/>
            <a:ext cx="6102626" cy="400110"/>
          </a:xfrm>
          <a:prstGeom prst="rect">
            <a:avLst/>
          </a:prstGeom>
          <a:noFill/>
        </p:spPr>
        <p:txBody>
          <a:bodyPr wrap="square">
            <a:spAutoFit/>
          </a:bodyPr>
          <a:lstStyle/>
          <a:p>
            <a:r>
              <a:rPr lang="en-US" sz="2000" b="1" dirty="0">
                <a:solidFill>
                  <a:srgbClr val="213163"/>
                </a:solidFill>
              </a:rPr>
              <a:t>Screenshot of Output:  </a:t>
            </a:r>
            <a:endParaRPr lang="en-IN" sz="2000" b="1" dirty="0">
              <a:solidFill>
                <a:srgbClr val="213163"/>
              </a:solidFill>
            </a:endParaRPr>
          </a:p>
        </p:txBody>
      </p:sp>
      <p:sp>
        <p:nvSpPr>
          <p:cNvPr id="2" name="TextBox 1">
            <a:extLst>
              <a:ext uri="{FF2B5EF4-FFF2-40B4-BE49-F238E27FC236}">
                <a16:creationId xmlns:a16="http://schemas.microsoft.com/office/drawing/2014/main" id="{B1E809B7-2160-0448-44FE-6C73845C909F}"/>
              </a:ext>
            </a:extLst>
          </p:cNvPr>
          <p:cNvSpPr txBox="1"/>
          <p:nvPr/>
        </p:nvSpPr>
        <p:spPr>
          <a:xfrm>
            <a:off x="255103" y="1658599"/>
            <a:ext cx="8112519" cy="1938992"/>
          </a:xfrm>
          <a:prstGeom prst="rect">
            <a:avLst/>
          </a:prstGeom>
          <a:noFill/>
        </p:spPr>
        <p:txBody>
          <a:bodyPr wrap="square">
            <a:spAutoFit/>
          </a:bodyPr>
          <a:lstStyle/>
          <a:p>
            <a:r>
              <a:rPr lang="en-US" sz="2000" dirty="0"/>
              <a:t>The screenshot from deployed </a:t>
            </a:r>
            <a:r>
              <a:rPr lang="en-US" sz="2000" b="1" dirty="0" err="1"/>
              <a:t>Streamlit</a:t>
            </a:r>
            <a:r>
              <a:rPr lang="en-US" sz="2000" b="1" dirty="0"/>
              <a:t> app</a:t>
            </a:r>
            <a:r>
              <a:rPr lang="en-US" sz="2000" dirty="0"/>
              <a:t>, showing the following:</a:t>
            </a:r>
          </a:p>
          <a:p>
            <a:r>
              <a:rPr lang="en-US" sz="2000" dirty="0"/>
              <a:t>User inputs filled (Brightness, Brightness T31, FRP, Scan, Track, Confidence level)</a:t>
            </a:r>
          </a:p>
          <a:p>
            <a:r>
              <a:rPr lang="en-US" sz="2000" dirty="0"/>
              <a:t>A clicked </a:t>
            </a:r>
            <a:r>
              <a:rPr lang="en-US" sz="2000" b="1" dirty="0"/>
              <a:t>“Predict Fire Type”</a:t>
            </a:r>
            <a:r>
              <a:rPr lang="en-US" sz="2000" dirty="0"/>
              <a:t> button</a:t>
            </a:r>
          </a:p>
          <a:p>
            <a:r>
              <a:rPr lang="en-US" sz="2000" dirty="0"/>
              <a:t>The resulting output such as:</a:t>
            </a:r>
            <a:br>
              <a:rPr lang="en-US" sz="2000" dirty="0"/>
            </a:br>
            <a:r>
              <a:rPr lang="en-US" sz="2000" dirty="0"/>
              <a:t>✅ </a:t>
            </a:r>
            <a:r>
              <a:rPr lang="en-US" sz="2000" b="1" dirty="0"/>
              <a:t>Predicted Fire Type: Vegetation Fire</a:t>
            </a:r>
            <a:endParaRPr lang="en-US" sz="2000" dirty="0"/>
          </a:p>
        </p:txBody>
      </p:sp>
      <p:pic>
        <p:nvPicPr>
          <p:cNvPr id="5" name="Picture 4">
            <a:extLst>
              <a:ext uri="{FF2B5EF4-FFF2-40B4-BE49-F238E27FC236}">
                <a16:creationId xmlns:a16="http://schemas.microsoft.com/office/drawing/2014/main" id="{9EB8F9AA-23F8-608C-A74F-45D93CB080FC}"/>
              </a:ext>
            </a:extLst>
          </p:cNvPr>
          <p:cNvPicPr>
            <a:picLocks noChangeAspect="1"/>
          </p:cNvPicPr>
          <p:nvPr/>
        </p:nvPicPr>
        <p:blipFill>
          <a:blip r:embed="rId2"/>
          <a:stretch>
            <a:fillRect/>
          </a:stretch>
        </p:blipFill>
        <p:spPr>
          <a:xfrm>
            <a:off x="5251336" y="2674189"/>
            <a:ext cx="6773885" cy="3759926"/>
          </a:xfrm>
          <a:prstGeom prst="rect">
            <a:avLst/>
          </a:prstGeom>
        </p:spPr>
      </p:pic>
    </p:spTree>
    <p:extLst>
      <p:ext uri="{BB962C8B-B14F-4D97-AF65-F5344CB8AC3E}">
        <p14:creationId xmlns:p14="http://schemas.microsoft.com/office/powerpoint/2010/main" val="25705176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C837F7-6DDA-FD98-555E-AF1BD799697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79F0E36-864A-D669-5ADB-CAB544918F59}"/>
              </a:ext>
            </a:extLst>
          </p:cNvPr>
          <p:cNvSpPr txBox="1"/>
          <p:nvPr/>
        </p:nvSpPr>
        <p:spPr>
          <a:xfrm>
            <a:off x="255104" y="1054412"/>
            <a:ext cx="6102626" cy="400110"/>
          </a:xfrm>
          <a:prstGeom prst="rect">
            <a:avLst/>
          </a:prstGeom>
          <a:noFill/>
        </p:spPr>
        <p:txBody>
          <a:bodyPr wrap="square">
            <a:spAutoFit/>
          </a:bodyPr>
          <a:lstStyle/>
          <a:p>
            <a:r>
              <a:rPr lang="en-US" sz="2000" b="1" dirty="0">
                <a:solidFill>
                  <a:srgbClr val="213163"/>
                </a:solidFill>
              </a:rPr>
              <a:t>Screenshot of Output:  </a:t>
            </a:r>
            <a:endParaRPr lang="en-IN" sz="2000" b="1" dirty="0">
              <a:solidFill>
                <a:srgbClr val="213163"/>
              </a:solidFill>
            </a:endParaRPr>
          </a:p>
        </p:txBody>
      </p:sp>
      <p:sp>
        <p:nvSpPr>
          <p:cNvPr id="2" name="TextBox 1">
            <a:extLst>
              <a:ext uri="{FF2B5EF4-FFF2-40B4-BE49-F238E27FC236}">
                <a16:creationId xmlns:a16="http://schemas.microsoft.com/office/drawing/2014/main" id="{A8041E8F-FC5C-F5ED-6718-F1267595A746}"/>
              </a:ext>
            </a:extLst>
          </p:cNvPr>
          <p:cNvSpPr txBox="1"/>
          <p:nvPr/>
        </p:nvSpPr>
        <p:spPr>
          <a:xfrm>
            <a:off x="443363" y="1767495"/>
            <a:ext cx="4380097" cy="379656"/>
          </a:xfrm>
          <a:prstGeom prst="rect">
            <a:avLst/>
          </a:prstGeom>
          <a:noFill/>
        </p:spPr>
        <p:txBody>
          <a:bodyPr wrap="square">
            <a:spAutoFit/>
          </a:bodyPr>
          <a:lstStyle/>
          <a:p>
            <a:r>
              <a:rPr lang="en-IN" b="1" dirty="0"/>
              <a:t>Exploratory Data Analysis (EDA):-</a:t>
            </a:r>
            <a:endParaRPr lang="en-IN" dirty="0"/>
          </a:p>
        </p:txBody>
      </p:sp>
      <p:pic>
        <p:nvPicPr>
          <p:cNvPr id="7" name="Picture 6">
            <a:extLst>
              <a:ext uri="{FF2B5EF4-FFF2-40B4-BE49-F238E27FC236}">
                <a16:creationId xmlns:a16="http://schemas.microsoft.com/office/drawing/2014/main" id="{7F243765-CC95-7196-E207-B50B83982E15}"/>
              </a:ext>
            </a:extLst>
          </p:cNvPr>
          <p:cNvPicPr>
            <a:picLocks noChangeAspect="1"/>
          </p:cNvPicPr>
          <p:nvPr/>
        </p:nvPicPr>
        <p:blipFill>
          <a:blip r:embed="rId2"/>
          <a:stretch>
            <a:fillRect/>
          </a:stretch>
        </p:blipFill>
        <p:spPr>
          <a:xfrm>
            <a:off x="754048" y="2388503"/>
            <a:ext cx="4069412" cy="3954780"/>
          </a:xfrm>
          <a:prstGeom prst="rect">
            <a:avLst/>
          </a:prstGeom>
        </p:spPr>
      </p:pic>
      <p:pic>
        <p:nvPicPr>
          <p:cNvPr id="9" name="Picture 8">
            <a:extLst>
              <a:ext uri="{FF2B5EF4-FFF2-40B4-BE49-F238E27FC236}">
                <a16:creationId xmlns:a16="http://schemas.microsoft.com/office/drawing/2014/main" id="{90798E80-4602-4DED-7EE7-2C11F7869AAD}"/>
              </a:ext>
            </a:extLst>
          </p:cNvPr>
          <p:cNvPicPr>
            <a:picLocks noChangeAspect="1"/>
          </p:cNvPicPr>
          <p:nvPr/>
        </p:nvPicPr>
        <p:blipFill>
          <a:blip r:embed="rId3"/>
          <a:stretch>
            <a:fillRect/>
          </a:stretch>
        </p:blipFill>
        <p:spPr>
          <a:xfrm>
            <a:off x="6096000" y="2366010"/>
            <a:ext cx="4555996" cy="3999766"/>
          </a:xfrm>
          <a:prstGeom prst="rect">
            <a:avLst/>
          </a:prstGeom>
        </p:spPr>
      </p:pic>
    </p:spTree>
    <p:extLst>
      <p:ext uri="{BB962C8B-B14F-4D97-AF65-F5344CB8AC3E}">
        <p14:creationId xmlns:p14="http://schemas.microsoft.com/office/powerpoint/2010/main" val="14536130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06BA9A-7782-5C76-DB0F-76EC13E00EC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53D8877-54AC-2550-5D17-E2B644532498}"/>
              </a:ext>
            </a:extLst>
          </p:cNvPr>
          <p:cNvSpPr txBox="1"/>
          <p:nvPr/>
        </p:nvSpPr>
        <p:spPr>
          <a:xfrm>
            <a:off x="255104" y="1054412"/>
            <a:ext cx="6102626" cy="400110"/>
          </a:xfrm>
          <a:prstGeom prst="rect">
            <a:avLst/>
          </a:prstGeom>
          <a:noFill/>
        </p:spPr>
        <p:txBody>
          <a:bodyPr wrap="square">
            <a:spAutoFit/>
          </a:bodyPr>
          <a:lstStyle/>
          <a:p>
            <a:r>
              <a:rPr lang="en-US" sz="2000" b="1" dirty="0">
                <a:solidFill>
                  <a:srgbClr val="213163"/>
                </a:solidFill>
              </a:rPr>
              <a:t>Screenshot of Output:  </a:t>
            </a:r>
            <a:endParaRPr lang="en-IN" sz="2000" b="1" dirty="0">
              <a:solidFill>
                <a:srgbClr val="213163"/>
              </a:solidFill>
            </a:endParaRPr>
          </a:p>
        </p:txBody>
      </p:sp>
      <p:sp>
        <p:nvSpPr>
          <p:cNvPr id="2" name="TextBox 1">
            <a:extLst>
              <a:ext uri="{FF2B5EF4-FFF2-40B4-BE49-F238E27FC236}">
                <a16:creationId xmlns:a16="http://schemas.microsoft.com/office/drawing/2014/main" id="{8BA05B02-9864-1AB1-C1B6-11FEEA19A868}"/>
              </a:ext>
            </a:extLst>
          </p:cNvPr>
          <p:cNvSpPr txBox="1"/>
          <p:nvPr/>
        </p:nvSpPr>
        <p:spPr>
          <a:xfrm>
            <a:off x="843413" y="1772963"/>
            <a:ext cx="7624872" cy="400110"/>
          </a:xfrm>
          <a:prstGeom prst="rect">
            <a:avLst/>
          </a:prstGeom>
          <a:noFill/>
        </p:spPr>
        <p:txBody>
          <a:bodyPr wrap="square">
            <a:spAutoFit/>
          </a:bodyPr>
          <a:lstStyle/>
          <a:p>
            <a:r>
              <a:rPr lang="en-US" sz="2000" b="1" dirty="0"/>
              <a:t>Histograms of Numerical Features</a:t>
            </a:r>
            <a:endParaRPr lang="en-US" sz="2000" dirty="0"/>
          </a:p>
        </p:txBody>
      </p:sp>
      <p:pic>
        <p:nvPicPr>
          <p:cNvPr id="5" name="Picture 4">
            <a:extLst>
              <a:ext uri="{FF2B5EF4-FFF2-40B4-BE49-F238E27FC236}">
                <a16:creationId xmlns:a16="http://schemas.microsoft.com/office/drawing/2014/main" id="{BFADA658-7526-558B-91BC-5055869B063F}"/>
              </a:ext>
            </a:extLst>
          </p:cNvPr>
          <p:cNvPicPr>
            <a:picLocks noChangeAspect="1"/>
          </p:cNvPicPr>
          <p:nvPr/>
        </p:nvPicPr>
        <p:blipFill>
          <a:blip r:embed="rId2"/>
          <a:stretch>
            <a:fillRect/>
          </a:stretch>
        </p:blipFill>
        <p:spPr>
          <a:xfrm>
            <a:off x="2957547" y="2377214"/>
            <a:ext cx="5956866" cy="4480786"/>
          </a:xfrm>
          <a:prstGeom prst="rect">
            <a:avLst/>
          </a:prstGeom>
        </p:spPr>
      </p:pic>
    </p:spTree>
    <p:extLst>
      <p:ext uri="{BB962C8B-B14F-4D97-AF65-F5344CB8AC3E}">
        <p14:creationId xmlns:p14="http://schemas.microsoft.com/office/powerpoint/2010/main" val="27095957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D2712F-F5A6-19A6-BAAA-3823423A69E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D60C37D-B59B-B187-EDDC-46B1E164D07D}"/>
              </a:ext>
            </a:extLst>
          </p:cNvPr>
          <p:cNvSpPr txBox="1"/>
          <p:nvPr/>
        </p:nvSpPr>
        <p:spPr>
          <a:xfrm>
            <a:off x="255104" y="1054412"/>
            <a:ext cx="6102626" cy="400110"/>
          </a:xfrm>
          <a:prstGeom prst="rect">
            <a:avLst/>
          </a:prstGeom>
          <a:noFill/>
        </p:spPr>
        <p:txBody>
          <a:bodyPr wrap="square">
            <a:spAutoFit/>
          </a:bodyPr>
          <a:lstStyle/>
          <a:p>
            <a:r>
              <a:rPr lang="en-US" sz="2000" b="1" dirty="0">
                <a:solidFill>
                  <a:srgbClr val="213163"/>
                </a:solidFill>
              </a:rPr>
              <a:t>Screenshot of Output:  </a:t>
            </a:r>
            <a:endParaRPr lang="en-IN" sz="2000" b="1" dirty="0">
              <a:solidFill>
                <a:srgbClr val="213163"/>
              </a:solidFill>
            </a:endParaRPr>
          </a:p>
        </p:txBody>
      </p:sp>
      <p:sp>
        <p:nvSpPr>
          <p:cNvPr id="2" name="TextBox 1">
            <a:extLst>
              <a:ext uri="{FF2B5EF4-FFF2-40B4-BE49-F238E27FC236}">
                <a16:creationId xmlns:a16="http://schemas.microsoft.com/office/drawing/2014/main" id="{898D6D21-5794-23BD-ED1B-DBAF4D11A930}"/>
              </a:ext>
            </a:extLst>
          </p:cNvPr>
          <p:cNvSpPr txBox="1"/>
          <p:nvPr/>
        </p:nvSpPr>
        <p:spPr>
          <a:xfrm>
            <a:off x="6300343" y="1898806"/>
            <a:ext cx="5248777" cy="379656"/>
          </a:xfrm>
          <a:prstGeom prst="rect">
            <a:avLst/>
          </a:prstGeom>
          <a:noFill/>
        </p:spPr>
        <p:txBody>
          <a:bodyPr wrap="square">
            <a:spAutoFit/>
          </a:bodyPr>
          <a:lstStyle/>
          <a:p>
            <a:r>
              <a:rPr lang="en-US" dirty="0"/>
              <a:t>Visualize fire detections by day of the week</a:t>
            </a:r>
          </a:p>
        </p:txBody>
      </p:sp>
      <p:pic>
        <p:nvPicPr>
          <p:cNvPr id="5" name="Picture 4">
            <a:extLst>
              <a:ext uri="{FF2B5EF4-FFF2-40B4-BE49-F238E27FC236}">
                <a16:creationId xmlns:a16="http://schemas.microsoft.com/office/drawing/2014/main" id="{6C9ACEAF-C7A2-AA81-49C9-23BB52EE6D1C}"/>
              </a:ext>
            </a:extLst>
          </p:cNvPr>
          <p:cNvPicPr>
            <a:picLocks noChangeAspect="1"/>
          </p:cNvPicPr>
          <p:nvPr/>
        </p:nvPicPr>
        <p:blipFill>
          <a:blip r:embed="rId2"/>
          <a:stretch>
            <a:fillRect/>
          </a:stretch>
        </p:blipFill>
        <p:spPr>
          <a:xfrm>
            <a:off x="659008" y="2743200"/>
            <a:ext cx="5330312" cy="3829050"/>
          </a:xfrm>
          <a:prstGeom prst="rect">
            <a:avLst/>
          </a:prstGeom>
        </p:spPr>
      </p:pic>
      <p:pic>
        <p:nvPicPr>
          <p:cNvPr id="7" name="Picture 6">
            <a:extLst>
              <a:ext uri="{FF2B5EF4-FFF2-40B4-BE49-F238E27FC236}">
                <a16:creationId xmlns:a16="http://schemas.microsoft.com/office/drawing/2014/main" id="{F071367E-1C91-454D-B099-1D673CEF3854}"/>
              </a:ext>
            </a:extLst>
          </p:cNvPr>
          <p:cNvPicPr>
            <a:picLocks noChangeAspect="1"/>
          </p:cNvPicPr>
          <p:nvPr/>
        </p:nvPicPr>
        <p:blipFill>
          <a:blip r:embed="rId3"/>
          <a:stretch>
            <a:fillRect/>
          </a:stretch>
        </p:blipFill>
        <p:spPr>
          <a:xfrm>
            <a:off x="6300343" y="2743200"/>
            <a:ext cx="5857028" cy="3829050"/>
          </a:xfrm>
          <a:prstGeom prst="rect">
            <a:avLst/>
          </a:prstGeom>
        </p:spPr>
      </p:pic>
      <p:sp>
        <p:nvSpPr>
          <p:cNvPr id="8" name="TextBox 7">
            <a:extLst>
              <a:ext uri="{FF2B5EF4-FFF2-40B4-BE49-F238E27FC236}">
                <a16:creationId xmlns:a16="http://schemas.microsoft.com/office/drawing/2014/main" id="{6B97897E-C06D-7C56-64D2-9856BE573521}"/>
              </a:ext>
            </a:extLst>
          </p:cNvPr>
          <p:cNvSpPr txBox="1"/>
          <p:nvPr/>
        </p:nvSpPr>
        <p:spPr>
          <a:xfrm>
            <a:off x="740543" y="1898806"/>
            <a:ext cx="5248777" cy="379656"/>
          </a:xfrm>
          <a:prstGeom prst="rect">
            <a:avLst/>
          </a:prstGeom>
          <a:noFill/>
        </p:spPr>
        <p:txBody>
          <a:bodyPr wrap="square">
            <a:spAutoFit/>
          </a:bodyPr>
          <a:lstStyle/>
          <a:p>
            <a:r>
              <a:rPr lang="en-US" dirty="0"/>
              <a:t>Visualize fire detections over months</a:t>
            </a:r>
          </a:p>
        </p:txBody>
      </p:sp>
    </p:spTree>
    <p:extLst>
      <p:ext uri="{BB962C8B-B14F-4D97-AF65-F5344CB8AC3E}">
        <p14:creationId xmlns:p14="http://schemas.microsoft.com/office/powerpoint/2010/main" val="36287999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43D61C-1E4C-7DB3-DD2A-DBA91384A06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FA3068D-503D-5609-E7D9-6FF73EC072FD}"/>
              </a:ext>
            </a:extLst>
          </p:cNvPr>
          <p:cNvSpPr txBox="1"/>
          <p:nvPr/>
        </p:nvSpPr>
        <p:spPr>
          <a:xfrm>
            <a:off x="255104" y="1054412"/>
            <a:ext cx="6102626" cy="400110"/>
          </a:xfrm>
          <a:prstGeom prst="rect">
            <a:avLst/>
          </a:prstGeom>
          <a:noFill/>
        </p:spPr>
        <p:txBody>
          <a:bodyPr wrap="square">
            <a:spAutoFit/>
          </a:bodyPr>
          <a:lstStyle/>
          <a:p>
            <a:r>
              <a:rPr lang="en-US" sz="2000" b="1" dirty="0">
                <a:solidFill>
                  <a:srgbClr val="213163"/>
                </a:solidFill>
              </a:rPr>
              <a:t>Screenshot of Output:  </a:t>
            </a:r>
            <a:endParaRPr lang="en-IN" sz="2000" b="1" dirty="0">
              <a:solidFill>
                <a:srgbClr val="213163"/>
              </a:solidFill>
            </a:endParaRPr>
          </a:p>
        </p:txBody>
      </p:sp>
      <p:sp>
        <p:nvSpPr>
          <p:cNvPr id="2" name="TextBox 1">
            <a:extLst>
              <a:ext uri="{FF2B5EF4-FFF2-40B4-BE49-F238E27FC236}">
                <a16:creationId xmlns:a16="http://schemas.microsoft.com/office/drawing/2014/main" id="{68E9E0A3-69BE-D6F1-1368-E4060F5DA4B1}"/>
              </a:ext>
            </a:extLst>
          </p:cNvPr>
          <p:cNvSpPr txBox="1"/>
          <p:nvPr/>
        </p:nvSpPr>
        <p:spPr>
          <a:xfrm>
            <a:off x="561516" y="1657737"/>
            <a:ext cx="11592427" cy="666977"/>
          </a:xfrm>
          <a:prstGeom prst="rect">
            <a:avLst/>
          </a:prstGeom>
          <a:noFill/>
        </p:spPr>
        <p:txBody>
          <a:bodyPr wrap="square">
            <a:spAutoFit/>
          </a:bodyPr>
          <a:lstStyle/>
          <a:p>
            <a:r>
              <a:rPr lang="en-US" dirty="0"/>
              <a:t>Folium map of India with red circle markers indicating fire locations based on the 'latitude' and 'longitude' columns of the dataset. Each marker represents a detected fire incident.</a:t>
            </a:r>
          </a:p>
        </p:txBody>
      </p:sp>
      <p:pic>
        <p:nvPicPr>
          <p:cNvPr id="7" name="Picture 6">
            <a:extLst>
              <a:ext uri="{FF2B5EF4-FFF2-40B4-BE49-F238E27FC236}">
                <a16:creationId xmlns:a16="http://schemas.microsoft.com/office/drawing/2014/main" id="{F444986C-47E1-30D9-B73E-C0241205AFAA}"/>
              </a:ext>
            </a:extLst>
          </p:cNvPr>
          <p:cNvPicPr>
            <a:picLocks noChangeAspect="1"/>
          </p:cNvPicPr>
          <p:nvPr/>
        </p:nvPicPr>
        <p:blipFill>
          <a:blip r:embed="rId2"/>
          <a:stretch>
            <a:fillRect/>
          </a:stretch>
        </p:blipFill>
        <p:spPr>
          <a:xfrm>
            <a:off x="2739254" y="2343339"/>
            <a:ext cx="5878966" cy="4379895"/>
          </a:xfrm>
          <a:prstGeom prst="rect">
            <a:avLst/>
          </a:prstGeom>
        </p:spPr>
      </p:pic>
    </p:spTree>
    <p:extLst>
      <p:ext uri="{BB962C8B-B14F-4D97-AF65-F5344CB8AC3E}">
        <p14:creationId xmlns:p14="http://schemas.microsoft.com/office/powerpoint/2010/main" val="6647260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877D56-4C45-2460-C482-04FB154EF18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13E1B5A-1378-6B41-F443-BF777AB3DBEA}"/>
              </a:ext>
            </a:extLst>
          </p:cNvPr>
          <p:cNvSpPr txBox="1"/>
          <p:nvPr/>
        </p:nvSpPr>
        <p:spPr>
          <a:xfrm>
            <a:off x="255104" y="1054412"/>
            <a:ext cx="6102626" cy="400110"/>
          </a:xfrm>
          <a:prstGeom prst="rect">
            <a:avLst/>
          </a:prstGeom>
          <a:noFill/>
        </p:spPr>
        <p:txBody>
          <a:bodyPr wrap="square">
            <a:spAutoFit/>
          </a:bodyPr>
          <a:lstStyle/>
          <a:p>
            <a:r>
              <a:rPr lang="en-US" sz="2000" b="1" dirty="0">
                <a:solidFill>
                  <a:srgbClr val="213163"/>
                </a:solidFill>
              </a:rPr>
              <a:t>Screenshot of Output:  </a:t>
            </a:r>
            <a:endParaRPr lang="en-IN" sz="2000" b="1" dirty="0">
              <a:solidFill>
                <a:srgbClr val="213163"/>
              </a:solidFill>
            </a:endParaRPr>
          </a:p>
        </p:txBody>
      </p:sp>
      <p:pic>
        <p:nvPicPr>
          <p:cNvPr id="5" name="Picture 4">
            <a:extLst>
              <a:ext uri="{FF2B5EF4-FFF2-40B4-BE49-F238E27FC236}">
                <a16:creationId xmlns:a16="http://schemas.microsoft.com/office/drawing/2014/main" id="{2BB2FE62-5287-34F4-230B-BCC607F4422C}"/>
              </a:ext>
            </a:extLst>
          </p:cNvPr>
          <p:cNvPicPr>
            <a:picLocks noChangeAspect="1"/>
          </p:cNvPicPr>
          <p:nvPr/>
        </p:nvPicPr>
        <p:blipFill>
          <a:blip r:embed="rId2"/>
          <a:stretch>
            <a:fillRect/>
          </a:stretch>
        </p:blipFill>
        <p:spPr>
          <a:xfrm>
            <a:off x="909874" y="2377887"/>
            <a:ext cx="4519376" cy="4320540"/>
          </a:xfrm>
          <a:prstGeom prst="rect">
            <a:avLst/>
          </a:prstGeom>
        </p:spPr>
      </p:pic>
      <p:pic>
        <p:nvPicPr>
          <p:cNvPr id="7" name="Picture 6">
            <a:extLst>
              <a:ext uri="{FF2B5EF4-FFF2-40B4-BE49-F238E27FC236}">
                <a16:creationId xmlns:a16="http://schemas.microsoft.com/office/drawing/2014/main" id="{E55EFFE4-61C8-4C29-7B76-088BBD37D5B9}"/>
              </a:ext>
            </a:extLst>
          </p:cNvPr>
          <p:cNvPicPr>
            <a:picLocks noChangeAspect="1"/>
          </p:cNvPicPr>
          <p:nvPr/>
        </p:nvPicPr>
        <p:blipFill>
          <a:blip r:embed="rId3"/>
          <a:stretch>
            <a:fillRect/>
          </a:stretch>
        </p:blipFill>
        <p:spPr>
          <a:xfrm>
            <a:off x="6985380" y="2167927"/>
            <a:ext cx="3427350" cy="4603902"/>
          </a:xfrm>
          <a:prstGeom prst="rect">
            <a:avLst/>
          </a:prstGeom>
        </p:spPr>
      </p:pic>
      <p:sp>
        <p:nvSpPr>
          <p:cNvPr id="8" name="TextBox 7">
            <a:extLst>
              <a:ext uri="{FF2B5EF4-FFF2-40B4-BE49-F238E27FC236}">
                <a16:creationId xmlns:a16="http://schemas.microsoft.com/office/drawing/2014/main" id="{E7B81627-25EF-1674-96DE-2FC250B81F35}"/>
              </a:ext>
            </a:extLst>
          </p:cNvPr>
          <p:cNvSpPr txBox="1"/>
          <p:nvPr/>
        </p:nvSpPr>
        <p:spPr>
          <a:xfrm>
            <a:off x="1554480" y="1923861"/>
            <a:ext cx="2926080" cy="379656"/>
          </a:xfrm>
          <a:prstGeom prst="rect">
            <a:avLst/>
          </a:prstGeom>
          <a:noFill/>
        </p:spPr>
        <p:txBody>
          <a:bodyPr wrap="square">
            <a:spAutoFit/>
          </a:bodyPr>
          <a:lstStyle/>
          <a:p>
            <a:r>
              <a:rPr lang="en-IN" dirty="0"/>
              <a:t>Decision Tree</a:t>
            </a:r>
            <a:endParaRPr lang="en-US" sz="2000" dirty="0"/>
          </a:p>
        </p:txBody>
      </p:sp>
      <p:sp>
        <p:nvSpPr>
          <p:cNvPr id="9" name="TextBox 8">
            <a:extLst>
              <a:ext uri="{FF2B5EF4-FFF2-40B4-BE49-F238E27FC236}">
                <a16:creationId xmlns:a16="http://schemas.microsoft.com/office/drawing/2014/main" id="{8FA65D06-AB74-4E2A-FAEC-08C5F0433BCD}"/>
              </a:ext>
            </a:extLst>
          </p:cNvPr>
          <p:cNvSpPr txBox="1"/>
          <p:nvPr/>
        </p:nvSpPr>
        <p:spPr>
          <a:xfrm>
            <a:off x="6985380" y="1544205"/>
            <a:ext cx="3858127" cy="379656"/>
          </a:xfrm>
          <a:prstGeom prst="rect">
            <a:avLst/>
          </a:prstGeom>
          <a:noFill/>
        </p:spPr>
        <p:txBody>
          <a:bodyPr wrap="square">
            <a:spAutoFit/>
          </a:bodyPr>
          <a:lstStyle/>
          <a:p>
            <a:r>
              <a:rPr lang="en-IN" dirty="0"/>
              <a:t>Random Forest</a:t>
            </a:r>
            <a:endParaRPr lang="en-US" sz="2000" dirty="0"/>
          </a:p>
        </p:txBody>
      </p:sp>
    </p:spTree>
    <p:extLst>
      <p:ext uri="{BB962C8B-B14F-4D97-AF65-F5344CB8AC3E}">
        <p14:creationId xmlns:p14="http://schemas.microsoft.com/office/powerpoint/2010/main" val="30437935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61D872-7EC7-439F-A588-B1D90CB7A92F}"/>
              </a:ext>
            </a:extLst>
          </p:cNvPr>
          <p:cNvSpPr txBox="1"/>
          <p:nvPr/>
        </p:nvSpPr>
        <p:spPr>
          <a:xfrm>
            <a:off x="149087" y="988151"/>
            <a:ext cx="6102626" cy="400110"/>
          </a:xfrm>
          <a:prstGeom prst="rect">
            <a:avLst/>
          </a:prstGeom>
          <a:noFill/>
        </p:spPr>
        <p:txBody>
          <a:bodyPr wrap="square">
            <a:spAutoFit/>
          </a:bodyPr>
          <a:lstStyle/>
          <a:p>
            <a:r>
              <a:rPr lang="en-US" sz="2000" b="1" dirty="0">
                <a:solidFill>
                  <a:srgbClr val="213163"/>
                </a:solidFill>
              </a:rPr>
              <a:t>Conclusion:</a:t>
            </a:r>
            <a:r>
              <a:rPr lang="en-US" sz="1800" b="1" dirty="0">
                <a:solidFill>
                  <a:srgbClr val="213163"/>
                </a:solidFill>
              </a:rPr>
              <a:t>  </a:t>
            </a:r>
            <a:endParaRPr lang="en-IN" sz="1800" dirty="0">
              <a:solidFill>
                <a:srgbClr val="213163"/>
              </a:solidFill>
            </a:endParaRPr>
          </a:p>
        </p:txBody>
      </p:sp>
      <p:sp>
        <p:nvSpPr>
          <p:cNvPr id="2" name="TextBox 1">
            <a:extLst>
              <a:ext uri="{FF2B5EF4-FFF2-40B4-BE49-F238E27FC236}">
                <a16:creationId xmlns:a16="http://schemas.microsoft.com/office/drawing/2014/main" id="{9C28191D-1EAC-886E-CF75-3077F34BF791}"/>
              </a:ext>
            </a:extLst>
          </p:cNvPr>
          <p:cNvSpPr txBox="1"/>
          <p:nvPr/>
        </p:nvSpPr>
        <p:spPr>
          <a:xfrm>
            <a:off x="504255" y="1729979"/>
            <a:ext cx="10192499" cy="4062651"/>
          </a:xfrm>
          <a:prstGeom prst="rect">
            <a:avLst/>
          </a:prstGeom>
          <a:noFill/>
        </p:spPr>
        <p:txBody>
          <a:bodyPr wrap="square">
            <a:spAutoFit/>
          </a:bodyPr>
          <a:lstStyle/>
          <a:p>
            <a:r>
              <a:rPr lang="en-US" sz="1200" b="1" dirty="0"/>
              <a:t>Conclusion:-</a:t>
            </a:r>
          </a:p>
          <a:p>
            <a:endParaRPr lang="en-US" sz="1200" b="1" dirty="0"/>
          </a:p>
          <a:p>
            <a:r>
              <a:rPr lang="en-US" sz="1200" dirty="0"/>
              <a:t>This project successfully demonstrates the application of machine learning for classifying fire types in India using MODIS satellite data. By leveraging key features such as brightness, fire radiative power (FRP), and confidence levels, we trained a reliable classification model capable of predicting fire categories with good accuracy.</a:t>
            </a:r>
          </a:p>
          <a:p>
            <a:r>
              <a:rPr lang="en-US" sz="1200" dirty="0"/>
              <a:t>The deployment of this model using </a:t>
            </a:r>
            <a:r>
              <a:rPr lang="en-US" sz="1200" dirty="0" err="1"/>
              <a:t>Streamlit</a:t>
            </a:r>
            <a:r>
              <a:rPr lang="en-US" sz="1200" dirty="0"/>
              <a:t> ensures ease of use and real-time predictions through an interactive web interface. Additionally, practical issues such as large model file size were effectively managed using external file hosting.</a:t>
            </a:r>
          </a:p>
          <a:p>
            <a:r>
              <a:rPr lang="en-US" sz="1200" dirty="0"/>
              <a:t>Overall, the project highlights the potential of combining remote sensing data with AI to support faster and more informed decision-making in fire monitoring and disaster response efforts.</a:t>
            </a:r>
          </a:p>
          <a:p>
            <a:endParaRPr lang="en-US" sz="1500" dirty="0"/>
          </a:p>
          <a:p>
            <a:r>
              <a:rPr lang="en-US" sz="1200" b="1" dirty="0"/>
              <a:t>Future Scope:-</a:t>
            </a:r>
          </a:p>
          <a:p>
            <a:endParaRPr lang="en-US" sz="1200" b="1" dirty="0"/>
          </a:p>
          <a:p>
            <a:pPr marL="171450" indent="-171450">
              <a:buFont typeface="Arial" panose="020B0604020202020204" pitchFamily="34" charset="0"/>
              <a:buChar char="•"/>
            </a:pPr>
            <a:r>
              <a:rPr lang="en-US" sz="1200" b="1" dirty="0"/>
              <a:t>Incorporate More Features:</a:t>
            </a:r>
            <a:r>
              <a:rPr lang="en-US" sz="1200" dirty="0"/>
              <a:t> Include additional environmental variables such as wind speed, humidity, and vegetation index to improve model accuracy.</a:t>
            </a:r>
          </a:p>
          <a:p>
            <a:pPr marL="171450" indent="-171450">
              <a:buFont typeface="Arial" panose="020B0604020202020204" pitchFamily="34" charset="0"/>
              <a:buChar char="•"/>
            </a:pPr>
            <a:r>
              <a:rPr lang="en-US" sz="1200" b="1" dirty="0"/>
              <a:t>Use Deep Learning Models:</a:t>
            </a:r>
            <a:r>
              <a:rPr lang="en-US" sz="1200" dirty="0"/>
              <a:t> Experiment with deep learning techniques (e.g., CNNs or LSTMs) for better pattern recognition in complex satellite data.</a:t>
            </a:r>
          </a:p>
          <a:p>
            <a:pPr marL="171450" indent="-171450">
              <a:buFont typeface="Arial" panose="020B0604020202020204" pitchFamily="34" charset="0"/>
              <a:buChar char="•"/>
            </a:pPr>
            <a:r>
              <a:rPr lang="en-US" sz="1200" b="1" dirty="0"/>
              <a:t>Real-Time Data Integration:</a:t>
            </a:r>
            <a:r>
              <a:rPr lang="en-US" sz="1200" dirty="0"/>
              <a:t> Connect the model with real-time MODIS or VIIRS satellite feeds for live fire detection and classification.</a:t>
            </a:r>
          </a:p>
          <a:p>
            <a:pPr marL="171450" indent="-171450">
              <a:buFont typeface="Arial" panose="020B0604020202020204" pitchFamily="34" charset="0"/>
              <a:buChar char="•"/>
            </a:pPr>
            <a:r>
              <a:rPr lang="en-US" sz="1200" b="1" dirty="0"/>
              <a:t>Mobile App Development:</a:t>
            </a:r>
            <a:r>
              <a:rPr lang="en-US" sz="1200" dirty="0"/>
              <a:t> Extend the application to mobile platforms for quick access by field officers and disaster response teams. </a:t>
            </a:r>
          </a:p>
          <a:p>
            <a:pPr marL="171450" indent="-171450">
              <a:buFont typeface="Arial" panose="020B0604020202020204" pitchFamily="34" charset="0"/>
              <a:buChar char="•"/>
            </a:pPr>
            <a:r>
              <a:rPr lang="en-US" sz="1200" b="1" dirty="0"/>
              <a:t>Alert System Integration:</a:t>
            </a:r>
            <a:r>
              <a:rPr lang="en-US" sz="1200" dirty="0"/>
              <a:t> Develop automated alert systems to notify concerned authorities when a specific fire type is detected.</a:t>
            </a:r>
          </a:p>
          <a:p>
            <a:pPr marL="171450" indent="-171450">
              <a:buFont typeface="Arial" panose="020B0604020202020204" pitchFamily="34" charset="0"/>
              <a:buChar char="•"/>
            </a:pPr>
            <a:r>
              <a:rPr lang="en-US" sz="1200" b="1" dirty="0"/>
              <a:t>Global Applicability:</a:t>
            </a:r>
            <a:r>
              <a:rPr lang="en-US" sz="1200" dirty="0"/>
              <a:t> Adapt and scale the model for fire detection in other countries or regions beyond India.</a:t>
            </a:r>
          </a:p>
          <a:p>
            <a:endParaRPr lang="en-US" sz="1500" dirty="0"/>
          </a:p>
        </p:txBody>
      </p:sp>
    </p:spTree>
    <p:extLst>
      <p:ext uri="{BB962C8B-B14F-4D97-AF65-F5344CB8AC3E}">
        <p14:creationId xmlns:p14="http://schemas.microsoft.com/office/powerpoint/2010/main" val="151988358"/>
      </p:ext>
    </p:extLst>
  </p:cSld>
  <p:clrMapOvr>
    <a:masterClrMapping/>
  </p:clrMapOvr>
</p:sld>
</file>

<file path=ppt/theme/theme1.xml><?xml version="1.0" encoding="utf-8"?>
<a:theme xmlns:a="http://schemas.openxmlformats.org/drawingml/2006/main" name="Session 01 Design Thinking &amp; Critical Thinking">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Session 01 Design Thinking &amp; Critical Thinking" id="{1DE73F69-F87A-4ED3-81C1-82D2BA622E0C}" vid="{37568650-F724-47C7-905E-9640F8017497}"/>
    </a:ext>
  </a:extLst>
</a:theme>
</file>

<file path=docProps/app.xml><?xml version="1.0" encoding="utf-8"?>
<Properties xmlns="http://schemas.openxmlformats.org/officeDocument/2006/extended-properties" xmlns:vt="http://schemas.openxmlformats.org/officeDocument/2006/docPropsVTypes">
  <Template>Session 01 Design Thinking &amp; Critical Thinking</Template>
  <TotalTime>162</TotalTime>
  <Words>1211</Words>
  <Application>Microsoft Office PowerPoint</Application>
  <PresentationFormat>Widescreen</PresentationFormat>
  <Paragraphs>119</Paragraphs>
  <Slides>15</Slides>
  <Notes>0</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15</vt:i4>
      </vt:variant>
    </vt:vector>
  </HeadingPairs>
  <TitlesOfParts>
    <vt:vector size="17" baseType="lpstr">
      <vt:lpstr>Arial</vt:lpstr>
      <vt:lpstr>Session 01 Design Thinking &amp; Critical Thinking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Mahesh Kurhe</dc:creator>
  <cp:lastModifiedBy>uddip bisht</cp:lastModifiedBy>
  <cp:revision>7</cp:revision>
  <dcterms:created xsi:type="dcterms:W3CDTF">2024-12-31T09:40:01Z</dcterms:created>
  <dcterms:modified xsi:type="dcterms:W3CDTF">2025-08-03T01:35:48Z</dcterms:modified>
</cp:coreProperties>
</file>